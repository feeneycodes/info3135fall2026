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71" r:id="rId5"/>
    <p:sldId id="259" r:id="rId6"/>
    <p:sldId id="260" r:id="rId7"/>
    <p:sldId id="261" r:id="rId8"/>
    <p:sldId id="262" r:id="rId9"/>
    <p:sldId id="264" r:id="rId10"/>
    <p:sldId id="265" r:id="rId11"/>
    <p:sldId id="263" r:id="rId12"/>
    <p:sldId id="266" r:id="rId13"/>
    <p:sldId id="267" r:id="rId14"/>
    <p:sldId id="268" r:id="rId15"/>
    <p:sldId id="269" r:id="rId16"/>
    <p:sldId id="270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1503" autoAdjust="0"/>
  </p:normalViewPr>
  <p:slideViewPr>
    <p:cSldViewPr snapToGrid="0">
      <p:cViewPr varScale="1">
        <p:scale>
          <a:sx n="69" d="100"/>
          <a:sy n="69" d="100"/>
        </p:scale>
        <p:origin x="1186" y="3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01527A7-C91E-4166-9F63-C13C09B61AC2}" type="datetimeFigureOut">
              <a:rPr lang="en-CA" smtClean="0"/>
              <a:t>2026-09-09</a:t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1FBD56C-C571-4B20-AE1D-2562BE11C0D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28275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#include&lt;</a:t>
            </a:r>
            <a:r>
              <a:rPr lang="en-CA" dirty="0" err="1"/>
              <a:t>iostream</a:t>
            </a:r>
            <a:r>
              <a:rPr lang="en-CA" dirty="0"/>
              <a:t>&gt; </a:t>
            </a:r>
          </a:p>
          <a:p>
            <a:r>
              <a:rPr lang="en-CA" dirty="0"/>
              <a:t>#include&lt;</a:t>
            </a:r>
            <a:r>
              <a:rPr lang="en-CA" dirty="0" err="1"/>
              <a:t>conio.h</a:t>
            </a:r>
            <a:r>
              <a:rPr lang="en-CA" dirty="0"/>
              <a:t>&gt;</a:t>
            </a:r>
          </a:p>
          <a:p>
            <a:r>
              <a:rPr lang="en-CA" dirty="0"/>
              <a:t>using</a:t>
            </a:r>
            <a:r>
              <a:rPr lang="en-CA" baseline="0" dirty="0"/>
              <a:t> namespace </a:t>
            </a:r>
            <a:r>
              <a:rPr lang="en-CA" baseline="0" dirty="0" err="1"/>
              <a:t>std</a:t>
            </a:r>
            <a:r>
              <a:rPr lang="en-CA" baseline="0" dirty="0"/>
              <a:t>;</a:t>
            </a:r>
            <a:endParaRPr lang="en-CA" dirty="0"/>
          </a:p>
          <a:p>
            <a:endParaRPr lang="en-CA" dirty="0"/>
          </a:p>
          <a:p>
            <a:r>
              <a:rPr lang="en-CA" dirty="0"/>
              <a:t>   </a:t>
            </a:r>
            <a:r>
              <a:rPr lang="en-CA" dirty="0" err="1"/>
              <a:t>int</a:t>
            </a:r>
            <a:r>
              <a:rPr lang="en-CA" dirty="0"/>
              <a:t> main() </a:t>
            </a:r>
          </a:p>
          <a:p>
            <a:r>
              <a:rPr lang="en-CA" dirty="0"/>
              <a:t>    { </a:t>
            </a:r>
          </a:p>
          <a:p>
            <a:r>
              <a:rPr lang="en-CA" dirty="0"/>
              <a:t>     </a:t>
            </a:r>
            <a:r>
              <a:rPr lang="en-CA" dirty="0" err="1"/>
              <a:t>int</a:t>
            </a:r>
            <a:r>
              <a:rPr lang="en-CA" dirty="0"/>
              <a:t> </a:t>
            </a:r>
            <a:r>
              <a:rPr lang="en-CA" dirty="0" err="1"/>
              <a:t>arr</a:t>
            </a:r>
            <a:r>
              <a:rPr lang="en-CA" dirty="0"/>
              <a:t>[5],</a:t>
            </a:r>
            <a:r>
              <a:rPr lang="en-CA" dirty="0" err="1"/>
              <a:t>i</a:t>
            </a:r>
            <a:r>
              <a:rPr lang="en-CA" dirty="0"/>
              <a:t>; </a:t>
            </a:r>
          </a:p>
          <a:p>
            <a:r>
              <a:rPr lang="en-CA" dirty="0"/>
              <a:t>     </a:t>
            </a:r>
            <a:r>
              <a:rPr lang="en-CA" dirty="0" err="1"/>
              <a:t>int</a:t>
            </a:r>
            <a:r>
              <a:rPr lang="en-CA" dirty="0"/>
              <a:t> *p=</a:t>
            </a:r>
            <a:r>
              <a:rPr lang="en-CA" dirty="0" err="1"/>
              <a:t>arr</a:t>
            </a:r>
            <a:r>
              <a:rPr lang="en-CA" dirty="0"/>
              <a:t>; </a:t>
            </a:r>
          </a:p>
          <a:p>
            <a:r>
              <a:rPr lang="en-CA" dirty="0"/>
              <a:t>     </a:t>
            </a:r>
            <a:r>
              <a:rPr lang="en-CA" dirty="0" err="1"/>
              <a:t>cout</a:t>
            </a:r>
            <a:r>
              <a:rPr lang="en-CA" dirty="0"/>
              <a:t>&lt;&lt;"Enter five numbers separated by space:"; </a:t>
            </a:r>
          </a:p>
          <a:p>
            <a:r>
              <a:rPr lang="en-CA" dirty="0"/>
              <a:t>     </a:t>
            </a:r>
            <a:r>
              <a:rPr lang="en-CA" dirty="0" err="1"/>
              <a:t>cin</a:t>
            </a:r>
            <a:r>
              <a:rPr lang="en-CA" dirty="0"/>
              <a:t>&gt;&gt;*p&gt;&gt;*(p+1)&gt;&gt;*(p+2)&gt;&gt;*(p+3)&gt;&gt;*(p+4); </a:t>
            </a:r>
          </a:p>
          <a:p>
            <a:r>
              <a:rPr lang="en-CA" dirty="0"/>
              <a:t>     </a:t>
            </a:r>
            <a:r>
              <a:rPr lang="en-CA" dirty="0" err="1"/>
              <a:t>cout</a:t>
            </a:r>
            <a:r>
              <a:rPr lang="en-CA" dirty="0"/>
              <a:t>&lt;&lt;"Your numbers are:\n"; </a:t>
            </a:r>
          </a:p>
          <a:p>
            <a:r>
              <a:rPr lang="en-CA" dirty="0"/>
              <a:t>     for(</a:t>
            </a:r>
            <a:r>
              <a:rPr lang="en-CA" dirty="0" err="1"/>
              <a:t>i</a:t>
            </a:r>
            <a:r>
              <a:rPr lang="en-CA" dirty="0"/>
              <a:t>=4;i&gt;=0;i--) </a:t>
            </a:r>
          </a:p>
          <a:p>
            <a:r>
              <a:rPr lang="en-CA" dirty="0"/>
              <a:t>        </a:t>
            </a:r>
            <a:r>
              <a:rPr lang="en-CA" dirty="0" err="1"/>
              <a:t>cout</a:t>
            </a:r>
            <a:r>
              <a:rPr lang="en-CA" dirty="0"/>
              <a:t>&lt;&lt;*(</a:t>
            </a:r>
            <a:r>
              <a:rPr lang="en-CA" dirty="0" err="1"/>
              <a:t>p+i</a:t>
            </a:r>
            <a:r>
              <a:rPr lang="en-CA" dirty="0"/>
              <a:t>)&lt;&lt;</a:t>
            </a:r>
            <a:r>
              <a:rPr lang="en-CA" dirty="0" err="1"/>
              <a:t>endl</a:t>
            </a:r>
            <a:r>
              <a:rPr lang="en-CA" dirty="0"/>
              <a:t>; </a:t>
            </a:r>
          </a:p>
          <a:p>
            <a:r>
              <a:rPr lang="en-CA" dirty="0"/>
              <a:t>     </a:t>
            </a:r>
          </a:p>
          <a:p>
            <a:r>
              <a:rPr lang="en-CA" dirty="0"/>
              <a:t>     </a:t>
            </a:r>
            <a:r>
              <a:rPr lang="en-CA" dirty="0" err="1"/>
              <a:t>getch</a:t>
            </a:r>
            <a:r>
              <a:rPr lang="en-CA" dirty="0"/>
              <a:t>(); </a:t>
            </a:r>
          </a:p>
          <a:p>
            <a:r>
              <a:rPr lang="en-CA" dirty="0"/>
              <a:t>     return 0; </a:t>
            </a:r>
          </a:p>
          <a:p>
            <a:r>
              <a:rPr lang="en-CA" dirty="0"/>
              <a:t>  </a:t>
            </a:r>
          </a:p>
          <a:p>
            <a:r>
              <a:rPr lang="en-CA" dirty="0"/>
              <a:t>    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1FBD56C-C571-4B20-AE1D-2562BE11C0DE}" type="slidenum">
              <a:rPr lang="en-CA" smtClean="0"/>
              <a:t>11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48571277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#include &lt;</a:t>
            </a:r>
            <a:r>
              <a:rPr lang="en-CA" dirty="0" err="1"/>
              <a:t>iostream</a:t>
            </a:r>
            <a:r>
              <a:rPr lang="en-CA" dirty="0"/>
              <a:t>&gt;</a:t>
            </a:r>
          </a:p>
          <a:p>
            <a:r>
              <a:rPr lang="en-CA" dirty="0"/>
              <a:t>using namespace </a:t>
            </a:r>
            <a:r>
              <a:rPr lang="en-CA" dirty="0" err="1"/>
              <a:t>std</a:t>
            </a:r>
            <a:r>
              <a:rPr lang="en-CA" dirty="0"/>
              <a:t>;</a:t>
            </a:r>
          </a:p>
          <a:p>
            <a:r>
              <a:rPr lang="en-CA" dirty="0"/>
              <a:t> </a:t>
            </a:r>
          </a:p>
          <a:p>
            <a:r>
              <a:rPr lang="en-CA" dirty="0" err="1"/>
              <a:t>int</a:t>
            </a:r>
            <a:r>
              <a:rPr lang="en-CA" dirty="0"/>
              <a:t> main() {</a:t>
            </a:r>
          </a:p>
          <a:p>
            <a:r>
              <a:rPr lang="en-CA" dirty="0"/>
              <a:t> </a:t>
            </a:r>
          </a:p>
          <a:p>
            <a:r>
              <a:rPr lang="en-CA" dirty="0"/>
              <a:t>   </a:t>
            </a:r>
            <a:r>
              <a:rPr lang="en-CA" dirty="0" err="1"/>
              <a:t>int</a:t>
            </a:r>
            <a:r>
              <a:rPr lang="en-CA" dirty="0"/>
              <a:t> </a:t>
            </a:r>
            <a:r>
              <a:rPr lang="en-CA" dirty="0" err="1"/>
              <a:t>arr</a:t>
            </a:r>
            <a:r>
              <a:rPr lang="en-CA" dirty="0"/>
              <a:t>[5],</a:t>
            </a:r>
            <a:r>
              <a:rPr lang="en-CA" dirty="0" err="1"/>
              <a:t>i</a:t>
            </a:r>
            <a:r>
              <a:rPr lang="en-CA" dirty="0"/>
              <a:t>;</a:t>
            </a:r>
          </a:p>
          <a:p>
            <a:r>
              <a:rPr lang="en-CA" dirty="0"/>
              <a:t>     </a:t>
            </a:r>
            <a:r>
              <a:rPr lang="en-CA" dirty="0" err="1"/>
              <a:t>int</a:t>
            </a:r>
            <a:r>
              <a:rPr lang="en-CA" dirty="0"/>
              <a:t> *p=</a:t>
            </a:r>
            <a:r>
              <a:rPr lang="en-CA" dirty="0" err="1"/>
              <a:t>arr</a:t>
            </a:r>
            <a:r>
              <a:rPr lang="en-CA" dirty="0"/>
              <a:t>;</a:t>
            </a:r>
          </a:p>
          <a:p>
            <a:r>
              <a:rPr lang="en-CA" dirty="0"/>
              <a:t>     </a:t>
            </a:r>
            <a:r>
              <a:rPr lang="en-CA" dirty="0" err="1"/>
              <a:t>cout</a:t>
            </a:r>
            <a:r>
              <a:rPr lang="en-CA" dirty="0"/>
              <a:t>&lt;&lt;"Enter five numbers separated by space:";</a:t>
            </a:r>
          </a:p>
          <a:p>
            <a:r>
              <a:rPr lang="en-CA" dirty="0"/>
              <a:t>     </a:t>
            </a:r>
            <a:r>
              <a:rPr lang="en-CA" dirty="0" err="1"/>
              <a:t>cin</a:t>
            </a:r>
            <a:r>
              <a:rPr lang="en-CA" dirty="0"/>
              <a:t>&gt;&gt;*p&gt;&gt;*(p+1)&gt;&gt;*(p+2)&gt;&gt;*(p+3)&gt;&gt;*(p+4);</a:t>
            </a:r>
          </a:p>
          <a:p>
            <a:r>
              <a:rPr lang="en-CA" dirty="0"/>
              <a:t>     </a:t>
            </a:r>
            <a:r>
              <a:rPr lang="en-CA" dirty="0" err="1"/>
              <a:t>cout</a:t>
            </a:r>
            <a:r>
              <a:rPr lang="en-CA" dirty="0"/>
              <a:t>&lt;&lt;"Your entered numbers in reverse order are:\n";</a:t>
            </a:r>
          </a:p>
          <a:p>
            <a:r>
              <a:rPr lang="en-CA" dirty="0"/>
              <a:t>     for(</a:t>
            </a:r>
            <a:r>
              <a:rPr lang="en-CA" dirty="0" err="1"/>
              <a:t>i</a:t>
            </a:r>
            <a:r>
              <a:rPr lang="en-CA" dirty="0"/>
              <a:t>=4;i&gt;=0;i--)</a:t>
            </a:r>
          </a:p>
          <a:p>
            <a:r>
              <a:rPr lang="en-CA" dirty="0"/>
              <a:t>        </a:t>
            </a:r>
            <a:r>
              <a:rPr lang="en-CA" dirty="0" err="1"/>
              <a:t>cout</a:t>
            </a:r>
            <a:r>
              <a:rPr lang="en-CA" dirty="0"/>
              <a:t>&lt;&lt;*(</a:t>
            </a:r>
            <a:r>
              <a:rPr lang="en-CA" dirty="0" err="1"/>
              <a:t>p+i</a:t>
            </a:r>
            <a:r>
              <a:rPr lang="en-CA" dirty="0"/>
              <a:t>)&lt;&lt;</a:t>
            </a:r>
            <a:r>
              <a:rPr lang="en-CA" dirty="0" err="1"/>
              <a:t>endl</a:t>
            </a:r>
            <a:r>
              <a:rPr lang="en-CA" dirty="0"/>
              <a:t>;</a:t>
            </a:r>
          </a:p>
          <a:p>
            <a:r>
              <a:rPr lang="en-CA" dirty="0"/>
              <a:t> </a:t>
            </a:r>
          </a:p>
          <a:p>
            <a:r>
              <a:rPr lang="en-CA" dirty="0"/>
              <a:t>     return 0;</a:t>
            </a:r>
          </a:p>
          <a:p>
            <a:r>
              <a:rPr lang="en-CA" dirty="0"/>
              <a:t> </a:t>
            </a:r>
          </a:p>
          <a:p>
            <a:r>
              <a:rPr lang="en-CA" dirty="0"/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1FBD56C-C571-4B20-AE1D-2562BE11C0DE}" type="slidenum">
              <a:rPr lang="en-CA" smtClean="0"/>
              <a:t>12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464652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A8252-26A2-422C-8021-53F2FA7F3083}" type="datetimeFigureOut">
              <a:rPr lang="en-CA" smtClean="0"/>
              <a:t>2026-09-09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D8DDE3-37DC-4FC1-86DE-98D0EA336BF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0770593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A8252-26A2-422C-8021-53F2FA7F3083}" type="datetimeFigureOut">
              <a:rPr lang="en-CA" smtClean="0"/>
              <a:t>2026-09-09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D8DDE3-37DC-4FC1-86DE-98D0EA336BF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9630176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A8252-26A2-422C-8021-53F2FA7F3083}" type="datetimeFigureOut">
              <a:rPr lang="en-CA" smtClean="0"/>
              <a:t>2026-09-09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D8DDE3-37DC-4FC1-86DE-98D0EA336BF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2550868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A8252-26A2-422C-8021-53F2FA7F3083}" type="datetimeFigureOut">
              <a:rPr lang="en-CA" smtClean="0"/>
              <a:t>2026-09-09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D8DDE3-37DC-4FC1-86DE-98D0EA336BF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0347101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A8252-26A2-422C-8021-53F2FA7F3083}" type="datetimeFigureOut">
              <a:rPr lang="en-CA" smtClean="0"/>
              <a:t>2026-09-09</a:t>
            </a:fld>
            <a:endParaRPr lang="en-C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D8DDE3-37DC-4FC1-86DE-98D0EA336BF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947737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A8252-26A2-422C-8021-53F2FA7F3083}" type="datetimeFigureOut">
              <a:rPr lang="en-CA" smtClean="0"/>
              <a:t>2026-09-09</a:t>
            </a:fld>
            <a:endParaRPr lang="en-C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D8DDE3-37DC-4FC1-86DE-98D0EA336BF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6783664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A8252-26A2-422C-8021-53F2FA7F3083}" type="datetimeFigureOut">
              <a:rPr lang="en-CA" smtClean="0"/>
              <a:t>2026-09-09</a:t>
            </a:fld>
            <a:endParaRPr lang="en-C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D8DDE3-37DC-4FC1-86DE-98D0EA336BF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2804132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A8252-26A2-422C-8021-53F2FA7F3083}" type="datetimeFigureOut">
              <a:rPr lang="en-CA" smtClean="0"/>
              <a:t>2026-09-09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D8DDE3-37DC-4FC1-86DE-98D0EA336BF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4394652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A8252-26A2-422C-8021-53F2FA7F3083}" type="datetimeFigureOut">
              <a:rPr lang="en-CA" smtClean="0"/>
              <a:t>2026-09-09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D8DDE3-37DC-4FC1-86DE-98D0EA336BF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4935985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A8252-26A2-422C-8021-53F2FA7F3083}" type="datetimeFigureOut">
              <a:rPr lang="en-CA" smtClean="0"/>
              <a:t>2026-09-09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D8DDE3-37DC-4FC1-86DE-98D0EA336BF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1792389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A8252-26A2-422C-8021-53F2FA7F3083}" type="datetimeFigureOut">
              <a:rPr lang="en-CA" smtClean="0"/>
              <a:t>2026-09-09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D8DDE3-37DC-4FC1-86DE-98D0EA336BF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6970558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039815" y="182245"/>
            <a:ext cx="9313985" cy="83062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508943"/>
            <a:ext cx="10515600" cy="45542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4A8252-26A2-422C-8021-53F2FA7F3083}" type="datetimeFigureOut">
              <a:rPr lang="en-CA" smtClean="0"/>
              <a:t>2026-09-09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D8DDE3-37DC-4FC1-86DE-98D0EA336BF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719772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39815" y="182245"/>
            <a:ext cx="9710907" cy="830629"/>
          </a:xfrm>
        </p:spPr>
        <p:txBody>
          <a:bodyPr>
            <a:normAutofit/>
          </a:bodyPr>
          <a:lstStyle/>
          <a:p>
            <a:r>
              <a:rPr lang="en-CA" dirty="0">
                <a:solidFill>
                  <a:schemeClr val="bg1"/>
                </a:solidFill>
              </a:rPr>
              <a:t>C++ Pointer 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3" y="1508942"/>
            <a:ext cx="10871200" cy="4891858"/>
          </a:xfrm>
        </p:spPr>
        <p:txBody>
          <a:bodyPr>
            <a:normAutofit lnSpcReduction="10000"/>
          </a:bodyPr>
          <a:lstStyle/>
          <a:p>
            <a:r>
              <a:rPr lang="en-CA" dirty="0"/>
              <a:t>A pointer is a variable that holds a memory address. This address is the location of another object (typically another variable) in memory</a:t>
            </a:r>
          </a:p>
          <a:p>
            <a:r>
              <a:rPr lang="en-CA" dirty="0"/>
              <a:t> Pointers provide the means by which functions can modify their calling arguments</a:t>
            </a:r>
          </a:p>
          <a:p>
            <a:r>
              <a:rPr lang="en-CA" dirty="0"/>
              <a:t>Pointers support dynamic allocation</a:t>
            </a:r>
          </a:p>
          <a:p>
            <a:r>
              <a:rPr lang="en-CA" dirty="0"/>
              <a:t>Pointers can improve the efficiency of certain routines</a:t>
            </a:r>
          </a:p>
          <a:p>
            <a:r>
              <a:rPr lang="en-CA" dirty="0"/>
              <a:t>Pointers are one of the strongest but also one of the most dangerous features in C/C++</a:t>
            </a:r>
          </a:p>
          <a:p>
            <a:r>
              <a:rPr lang="en-CA" dirty="0"/>
              <a:t>The C++ introduced smart pointers to reduce the complexity and danger (potential) of raw pointers. We will look at smart pointers briefly but this course will expect the use of raw pointers</a:t>
            </a:r>
          </a:p>
        </p:txBody>
      </p:sp>
    </p:spTree>
    <p:extLst>
      <p:ext uri="{BB962C8B-B14F-4D97-AF65-F5344CB8AC3E}">
        <p14:creationId xmlns:p14="http://schemas.microsoft.com/office/powerpoint/2010/main" val="158096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39815" y="182245"/>
            <a:ext cx="9710907" cy="830629"/>
          </a:xfrm>
        </p:spPr>
        <p:txBody>
          <a:bodyPr>
            <a:normAutofit/>
          </a:bodyPr>
          <a:lstStyle/>
          <a:p>
            <a:r>
              <a:rPr lang="en-CA" dirty="0">
                <a:solidFill>
                  <a:schemeClr val="bg1"/>
                </a:solidFill>
              </a:rPr>
              <a:t>C++ Pointer 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7267" y="1761067"/>
            <a:ext cx="4953000" cy="4302108"/>
          </a:xfrm>
        </p:spPr>
        <p:txBody>
          <a:bodyPr/>
          <a:lstStyle/>
          <a:p>
            <a:r>
              <a:rPr lang="en-CA" dirty="0"/>
              <a:t>If one variable contains the address of another variable, the first variable is said to point to the second 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28267" y="1263650"/>
            <a:ext cx="3312444" cy="5594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99264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39815" y="182245"/>
            <a:ext cx="9710907" cy="830629"/>
          </a:xfrm>
        </p:spPr>
        <p:txBody>
          <a:bodyPr>
            <a:normAutofit/>
          </a:bodyPr>
          <a:lstStyle/>
          <a:p>
            <a:r>
              <a:rPr lang="en-CA" dirty="0">
                <a:solidFill>
                  <a:schemeClr val="bg1"/>
                </a:solidFill>
              </a:rPr>
              <a:t>Pointer Variables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2533" y="1322675"/>
            <a:ext cx="11531600" cy="5416791"/>
          </a:xfrm>
        </p:spPr>
        <p:txBody>
          <a:bodyPr>
            <a:normAutofit/>
          </a:bodyPr>
          <a:lstStyle/>
          <a:p>
            <a:r>
              <a:rPr lang="en-CA" dirty="0"/>
              <a:t> A pointer declaration consists of a base type, an *, and the variable name. The general form for declaring a pointer variable is</a:t>
            </a:r>
          </a:p>
          <a:p>
            <a:pPr marL="0" indent="0">
              <a:buNone/>
            </a:pPr>
            <a:r>
              <a:rPr lang="en-CA" i="1" dirty="0">
                <a:solidFill>
                  <a:schemeClr val="accent5"/>
                </a:solidFill>
              </a:rPr>
              <a:t>         </a:t>
            </a:r>
            <a:r>
              <a:rPr lang="en-CA" dirty="0">
                <a:solidFill>
                  <a:schemeClr val="accent5"/>
                </a:solidFill>
              </a:rPr>
              <a:t>type *name;</a:t>
            </a:r>
          </a:p>
          <a:p>
            <a:pPr marL="0" indent="0">
              <a:buNone/>
            </a:pPr>
            <a:r>
              <a:rPr lang="en-CA" dirty="0"/>
              <a:t>    where type is the base type of the pointer and may be any valid type.</a:t>
            </a:r>
            <a:br>
              <a:rPr lang="en-CA" dirty="0"/>
            </a:br>
            <a:r>
              <a:rPr lang="en-CA" dirty="0"/>
              <a:t>    The name of the pointer variable is specified by name.</a:t>
            </a:r>
          </a:p>
          <a:p>
            <a:r>
              <a:rPr lang="en-CA" dirty="0"/>
              <a:t>The base type of the pointer defines what type of variables the pointer can point to.</a:t>
            </a:r>
          </a:p>
          <a:p>
            <a:r>
              <a:rPr lang="en-CA" dirty="0"/>
              <a:t>Examples </a:t>
            </a:r>
            <a:br>
              <a:rPr lang="en-CA" dirty="0"/>
            </a:br>
            <a:r>
              <a:rPr lang="en-CA" dirty="0" err="1">
                <a:solidFill>
                  <a:schemeClr val="accent5"/>
                </a:solidFill>
              </a:rPr>
              <a:t>int</a:t>
            </a:r>
            <a:r>
              <a:rPr lang="en-CA" dirty="0">
                <a:solidFill>
                  <a:schemeClr val="accent5"/>
                </a:solidFill>
              </a:rPr>
              <a:t> *p;</a:t>
            </a:r>
            <a:br>
              <a:rPr lang="en-CA" dirty="0">
                <a:solidFill>
                  <a:schemeClr val="accent5"/>
                </a:solidFill>
              </a:rPr>
            </a:br>
            <a:r>
              <a:rPr lang="en-CA" dirty="0" err="1">
                <a:solidFill>
                  <a:schemeClr val="accent5"/>
                </a:solidFill>
              </a:rPr>
              <a:t>MyFoo</a:t>
            </a:r>
            <a:r>
              <a:rPr lang="en-CA" dirty="0">
                <a:solidFill>
                  <a:schemeClr val="accent5"/>
                </a:solidFill>
              </a:rPr>
              <a:t> *</a:t>
            </a:r>
            <a:r>
              <a:rPr lang="en-CA" dirty="0" err="1">
                <a:solidFill>
                  <a:schemeClr val="accent5"/>
                </a:solidFill>
              </a:rPr>
              <a:t>pmyfoo</a:t>
            </a:r>
            <a:r>
              <a:rPr lang="en-CA" dirty="0">
                <a:solidFill>
                  <a:schemeClr val="accent5"/>
                </a:solidFill>
              </a:rPr>
              <a:t>;</a:t>
            </a:r>
            <a:r>
              <a:rPr lang="en-CA" dirty="0"/>
              <a:t>        ( Better is </a:t>
            </a:r>
            <a:r>
              <a:rPr lang="en-CA" dirty="0" err="1">
                <a:solidFill>
                  <a:schemeClr val="accent5"/>
                </a:solidFill>
              </a:rPr>
              <a:t>MyFoo</a:t>
            </a:r>
            <a:r>
              <a:rPr lang="en-CA" dirty="0">
                <a:solidFill>
                  <a:schemeClr val="accent5"/>
                </a:solidFill>
              </a:rPr>
              <a:t> *</a:t>
            </a:r>
            <a:r>
              <a:rPr lang="en-CA" dirty="0" err="1">
                <a:solidFill>
                  <a:schemeClr val="accent5"/>
                </a:solidFill>
              </a:rPr>
              <a:t>pmyfoo</a:t>
            </a:r>
            <a:r>
              <a:rPr lang="en-CA" dirty="0">
                <a:solidFill>
                  <a:schemeClr val="accent5"/>
                </a:solidFill>
              </a:rPr>
              <a:t> = NULL; </a:t>
            </a:r>
            <a:r>
              <a:rPr lang="en-CA" dirty="0"/>
              <a:t>)</a:t>
            </a:r>
          </a:p>
          <a:p>
            <a:r>
              <a:rPr lang="en-CA" dirty="0"/>
              <a:t>It is always a good practice to assign NULL to a pointer when declared.</a:t>
            </a:r>
            <a:br>
              <a:rPr lang="en-CA" dirty="0"/>
            </a:br>
            <a:r>
              <a:rPr lang="en-CA" dirty="0"/>
              <a:t>Not initializing an automatic storage variable leaves its value indeterminate</a:t>
            </a:r>
          </a:p>
          <a:p>
            <a:pPr marL="0" indent="0">
              <a:buNone/>
            </a:pP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7165784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BEFDF0-DCE4-39E8-0284-517E5109C5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CA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C1C1A14-1DBF-C40B-AC8D-89F0E5F3051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85254860"/>
              </p:ext>
            </p:extLst>
          </p:nvPr>
        </p:nvGraphicFramePr>
        <p:xfrm>
          <a:off x="6817360" y="1508760"/>
          <a:ext cx="3352799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34160">
                  <a:extLst>
                    <a:ext uri="{9D8B030D-6E8A-4147-A177-3AD203B41FA5}">
                      <a16:colId xmlns:a16="http://schemas.microsoft.com/office/drawing/2014/main" val="724167692"/>
                    </a:ext>
                  </a:extLst>
                </a:gridCol>
                <a:gridCol w="1818639">
                  <a:extLst>
                    <a:ext uri="{9D8B030D-6E8A-4147-A177-3AD203B41FA5}">
                      <a16:colId xmlns:a16="http://schemas.microsoft.com/office/drawing/2014/main" val="341413308"/>
                    </a:ext>
                  </a:extLst>
                </a:gridCol>
              </a:tblGrid>
              <a:tr h="328789">
                <a:tc>
                  <a:txBody>
                    <a:bodyPr/>
                    <a:lstStyle/>
                    <a:p>
                      <a:r>
                        <a:rPr lang="en-CA" dirty="0"/>
                        <a:t>Address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/>
                        <a:t>Value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4365371"/>
                  </a:ext>
                </a:extLst>
              </a:tr>
              <a:tr h="328789">
                <a:tc>
                  <a:txBody>
                    <a:bodyPr/>
                    <a:lstStyle/>
                    <a:p>
                      <a:r>
                        <a:rPr lang="en-CA" dirty="0"/>
                        <a:t>173889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/>
                        <a:t>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71972061"/>
                  </a:ext>
                </a:extLst>
              </a:tr>
              <a:tr h="328789">
                <a:tc>
                  <a:txBody>
                    <a:bodyPr/>
                    <a:lstStyle/>
                    <a:p>
                      <a:r>
                        <a:rPr lang="en-CA" dirty="0"/>
                        <a:t>173890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/>
                        <a:t>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43870524"/>
                  </a:ext>
                </a:extLst>
              </a:tr>
              <a:tr h="328789">
                <a:tc>
                  <a:txBody>
                    <a:bodyPr/>
                    <a:lstStyle/>
                    <a:p>
                      <a:r>
                        <a:rPr lang="en-CA" dirty="0"/>
                        <a:t>173891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/>
                        <a:t>333  (“a”)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6966210"/>
                  </a:ext>
                </a:extLst>
              </a:tr>
              <a:tr h="328789">
                <a:tc>
                  <a:txBody>
                    <a:bodyPr/>
                    <a:lstStyle/>
                    <a:p>
                      <a:r>
                        <a:rPr lang="en-CA" dirty="0"/>
                        <a:t>173892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/>
                        <a:t>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898092"/>
                  </a:ext>
                </a:extLst>
              </a:tr>
              <a:tr h="328789">
                <a:tc>
                  <a:txBody>
                    <a:bodyPr/>
                    <a:lstStyle/>
                    <a:p>
                      <a:r>
                        <a:rPr lang="en-CA" dirty="0"/>
                        <a:t>173893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/>
                        <a:t>273 (“b”)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7710634"/>
                  </a:ext>
                </a:extLst>
              </a:tr>
              <a:tr h="328789">
                <a:tc>
                  <a:txBody>
                    <a:bodyPr/>
                    <a:lstStyle/>
                    <a:p>
                      <a:r>
                        <a:rPr lang="en-CA" dirty="0"/>
                        <a:t>173894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/>
                        <a:t>(“*</a:t>
                      </a:r>
                      <a:r>
                        <a:rPr lang="en-CA" dirty="0" err="1"/>
                        <a:t>pA</a:t>
                      </a:r>
                      <a:r>
                        <a:rPr lang="en-CA" dirty="0"/>
                        <a:t>”)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5175924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47016F87-636B-80BF-0BD6-1A632580D299}"/>
              </a:ext>
            </a:extLst>
          </p:cNvPr>
          <p:cNvSpPr txBox="1"/>
          <p:nvPr/>
        </p:nvSpPr>
        <p:spPr>
          <a:xfrm>
            <a:off x="335280" y="1971040"/>
            <a:ext cx="467360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800" dirty="0"/>
              <a:t>&amp;a –&gt; gives me 173,891</a:t>
            </a:r>
          </a:p>
          <a:p>
            <a:endParaRPr lang="en-CA" sz="2800" dirty="0"/>
          </a:p>
          <a:p>
            <a:r>
              <a:rPr lang="en-CA" sz="2800" dirty="0"/>
              <a:t>int* </a:t>
            </a:r>
            <a:r>
              <a:rPr lang="en-CA" sz="2800" dirty="0" err="1"/>
              <a:t>pA</a:t>
            </a:r>
            <a:r>
              <a:rPr lang="en-CA" sz="2800" dirty="0"/>
              <a:t> = &amp;a;</a:t>
            </a:r>
          </a:p>
          <a:p>
            <a:endParaRPr lang="en-CA" sz="2800" dirty="0"/>
          </a:p>
          <a:p>
            <a:endParaRPr lang="en-CA" sz="2800" dirty="0"/>
          </a:p>
          <a:p>
            <a:r>
              <a:rPr lang="en-CA" sz="2800" dirty="0"/>
              <a:t>*</a:t>
            </a:r>
            <a:r>
              <a:rPr lang="en-CA" sz="2800" dirty="0" err="1"/>
              <a:t>pA</a:t>
            </a:r>
            <a:endParaRPr lang="en-CA" sz="2800" dirty="0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0A8F00D2-6B63-39ED-CF5D-C1692E154AD7}"/>
              </a:ext>
            </a:extLst>
          </p:cNvPr>
          <p:cNvCxnSpPr>
            <a:cxnSpLocks/>
          </p:cNvCxnSpPr>
          <p:nvPr/>
        </p:nvCxnSpPr>
        <p:spPr>
          <a:xfrm flipV="1">
            <a:off x="1188720" y="3535680"/>
            <a:ext cx="5628640" cy="751840"/>
          </a:xfrm>
          <a:prstGeom prst="straightConnector1">
            <a:avLst/>
          </a:prstGeom>
          <a:ln w="111125">
            <a:headEnd w="lg" len="lg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374483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39815" y="182245"/>
            <a:ext cx="9710907" cy="830629"/>
          </a:xfrm>
        </p:spPr>
        <p:txBody>
          <a:bodyPr>
            <a:normAutofit/>
          </a:bodyPr>
          <a:lstStyle/>
          <a:p>
            <a:r>
              <a:rPr lang="en-CA" dirty="0">
                <a:solidFill>
                  <a:schemeClr val="bg1"/>
                </a:solidFill>
              </a:rPr>
              <a:t>Pointer Operators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8667" y="1508943"/>
            <a:ext cx="11015133" cy="5162790"/>
          </a:xfrm>
        </p:spPr>
        <p:txBody>
          <a:bodyPr/>
          <a:lstStyle/>
          <a:p>
            <a:r>
              <a:rPr lang="en-CA" dirty="0"/>
              <a:t> There are two pointer operators: </a:t>
            </a:r>
            <a:r>
              <a:rPr lang="en-CA" sz="3600" dirty="0">
                <a:solidFill>
                  <a:schemeClr val="accent5"/>
                </a:solidFill>
              </a:rPr>
              <a:t>*</a:t>
            </a:r>
            <a:r>
              <a:rPr lang="en-CA" dirty="0"/>
              <a:t> and </a:t>
            </a:r>
            <a:r>
              <a:rPr lang="en-CA" sz="3200" dirty="0">
                <a:solidFill>
                  <a:schemeClr val="accent5"/>
                </a:solidFill>
              </a:rPr>
              <a:t>&amp;</a:t>
            </a:r>
            <a:r>
              <a:rPr lang="en-CA" dirty="0"/>
              <a:t>.</a:t>
            </a:r>
          </a:p>
          <a:p>
            <a:r>
              <a:rPr lang="en-CA" dirty="0"/>
              <a:t>The </a:t>
            </a:r>
            <a:r>
              <a:rPr lang="en-CA" b="1" dirty="0"/>
              <a:t>&amp; </a:t>
            </a:r>
            <a:r>
              <a:rPr lang="en-CA" dirty="0"/>
              <a:t>is a unary operator that returns the memory address of its operand. Think of </a:t>
            </a:r>
            <a:r>
              <a:rPr lang="en-CA" sz="3200" dirty="0">
                <a:solidFill>
                  <a:schemeClr val="accent5"/>
                </a:solidFill>
              </a:rPr>
              <a:t>&amp;</a:t>
            </a:r>
            <a:r>
              <a:rPr lang="en-CA" dirty="0"/>
              <a:t> as returning "the address of."</a:t>
            </a:r>
          </a:p>
          <a:p>
            <a:pPr marL="0" indent="0">
              <a:buNone/>
            </a:pPr>
            <a:r>
              <a:rPr lang="en-CA" dirty="0"/>
              <a:t>        </a:t>
            </a:r>
            <a:r>
              <a:rPr lang="en-CA" dirty="0" err="1">
                <a:solidFill>
                  <a:schemeClr val="accent5"/>
                </a:solidFill>
              </a:rPr>
              <a:t>maddress</a:t>
            </a:r>
            <a:r>
              <a:rPr lang="en-CA" dirty="0">
                <a:solidFill>
                  <a:schemeClr val="accent5"/>
                </a:solidFill>
              </a:rPr>
              <a:t> = &amp;age;</a:t>
            </a:r>
          </a:p>
          <a:p>
            <a:r>
              <a:rPr lang="en-CA" dirty="0"/>
              <a:t>This places into </a:t>
            </a:r>
            <a:r>
              <a:rPr lang="en-CA" dirty="0" err="1">
                <a:solidFill>
                  <a:schemeClr val="accent5"/>
                </a:solidFill>
              </a:rPr>
              <a:t>maddress</a:t>
            </a:r>
            <a:r>
              <a:rPr lang="en-CA" i="1" dirty="0">
                <a:solidFill>
                  <a:schemeClr val="accent5"/>
                </a:solidFill>
              </a:rPr>
              <a:t> </a:t>
            </a:r>
            <a:r>
              <a:rPr lang="en-CA" dirty="0"/>
              <a:t>the memory address of the variable </a:t>
            </a:r>
            <a:r>
              <a:rPr lang="en-CA" dirty="0">
                <a:solidFill>
                  <a:schemeClr val="accent5"/>
                </a:solidFill>
              </a:rPr>
              <a:t>age</a:t>
            </a:r>
            <a:r>
              <a:rPr lang="en-CA" dirty="0"/>
              <a:t>. This address is the computer's internal location of the variable. It has nothing to do with the value of </a:t>
            </a:r>
            <a:r>
              <a:rPr lang="en-CA" dirty="0">
                <a:solidFill>
                  <a:schemeClr val="accent5"/>
                </a:solidFill>
              </a:rPr>
              <a:t>age</a:t>
            </a:r>
            <a:r>
              <a:rPr lang="en-CA" dirty="0"/>
              <a:t>. </a:t>
            </a:r>
          </a:p>
          <a:p>
            <a:r>
              <a:rPr lang="en-CA" dirty="0">
                <a:solidFill>
                  <a:schemeClr val="accent5"/>
                </a:solidFill>
              </a:rPr>
              <a:t>age</a:t>
            </a:r>
            <a:r>
              <a:rPr lang="en-CA" i="1" dirty="0">
                <a:solidFill>
                  <a:schemeClr val="accent5"/>
                </a:solidFill>
              </a:rPr>
              <a:t> </a:t>
            </a:r>
            <a:r>
              <a:rPr lang="en-CA" dirty="0"/>
              <a:t>is stored at the memory address </a:t>
            </a:r>
            <a:r>
              <a:rPr lang="en-CA" dirty="0">
                <a:solidFill>
                  <a:srgbClr val="FF0000"/>
                </a:solidFill>
              </a:rPr>
              <a:t>2550 </a:t>
            </a:r>
            <a:r>
              <a:rPr lang="en-CA" dirty="0"/>
              <a:t>in the computer therefore </a:t>
            </a:r>
            <a:r>
              <a:rPr lang="en-CA" dirty="0" err="1">
                <a:solidFill>
                  <a:schemeClr val="accent5"/>
                </a:solidFill>
              </a:rPr>
              <a:t>maddress</a:t>
            </a:r>
            <a:r>
              <a:rPr lang="en-CA" dirty="0"/>
              <a:t>   will contain the value </a:t>
            </a:r>
            <a:r>
              <a:rPr lang="en-CA" dirty="0">
                <a:solidFill>
                  <a:srgbClr val="FF0000"/>
                </a:solidFill>
              </a:rPr>
              <a:t>2550</a:t>
            </a:r>
            <a:endParaRPr lang="en-CA" dirty="0"/>
          </a:p>
          <a:p>
            <a:pPr marL="0" indent="0">
              <a:buNone/>
            </a:pP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9142004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39815" y="182245"/>
            <a:ext cx="9710907" cy="830629"/>
          </a:xfrm>
        </p:spPr>
        <p:txBody>
          <a:bodyPr>
            <a:normAutofit/>
          </a:bodyPr>
          <a:lstStyle/>
          <a:p>
            <a:r>
              <a:rPr lang="en-CA" dirty="0">
                <a:solidFill>
                  <a:schemeClr val="bg1"/>
                </a:solidFill>
              </a:rPr>
              <a:t>Pointer Operators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1733" y="1508943"/>
            <a:ext cx="11294534" cy="5078124"/>
          </a:xfrm>
        </p:spPr>
        <p:txBody>
          <a:bodyPr>
            <a:normAutofit/>
          </a:bodyPr>
          <a:lstStyle/>
          <a:p>
            <a:r>
              <a:rPr lang="en-CA" dirty="0"/>
              <a:t> The pointer operator, *, is the complement of &amp;. </a:t>
            </a:r>
          </a:p>
          <a:p>
            <a:r>
              <a:rPr lang="en-CA" dirty="0"/>
              <a:t>It is a unary operator that returns the value located at the address that follows. </a:t>
            </a:r>
          </a:p>
          <a:p>
            <a:r>
              <a:rPr lang="en-CA" dirty="0"/>
              <a:t>For example, if </a:t>
            </a:r>
            <a:r>
              <a:rPr lang="en-CA" dirty="0" err="1"/>
              <a:t>maddress</a:t>
            </a:r>
            <a:r>
              <a:rPr lang="en-CA" dirty="0"/>
              <a:t> contains the memory address of the variable age,</a:t>
            </a:r>
          </a:p>
          <a:p>
            <a:pPr marL="0" indent="0">
              <a:buNone/>
            </a:pPr>
            <a:r>
              <a:rPr lang="en-CA" i="1" dirty="0">
                <a:solidFill>
                  <a:schemeClr val="accent5"/>
                </a:solidFill>
              </a:rPr>
              <a:t>             </a:t>
            </a:r>
            <a:r>
              <a:rPr lang="en-CA" dirty="0" err="1">
                <a:solidFill>
                  <a:schemeClr val="accent5"/>
                </a:solidFill>
              </a:rPr>
              <a:t>agevalue</a:t>
            </a:r>
            <a:r>
              <a:rPr lang="en-CA" i="1" dirty="0">
                <a:solidFill>
                  <a:schemeClr val="accent5"/>
                </a:solidFill>
              </a:rPr>
              <a:t> = *</a:t>
            </a:r>
            <a:r>
              <a:rPr lang="en-CA" dirty="0" err="1">
                <a:solidFill>
                  <a:schemeClr val="accent5"/>
                </a:solidFill>
              </a:rPr>
              <a:t>maddress</a:t>
            </a:r>
            <a:r>
              <a:rPr lang="en-CA" i="1" dirty="0">
                <a:solidFill>
                  <a:schemeClr val="accent5"/>
                </a:solidFill>
              </a:rPr>
              <a:t>;</a:t>
            </a:r>
          </a:p>
          <a:p>
            <a:pPr marL="0" indent="0">
              <a:buNone/>
            </a:pPr>
            <a:r>
              <a:rPr lang="en-CA" dirty="0"/>
              <a:t> places the value of age into </a:t>
            </a:r>
            <a:r>
              <a:rPr lang="en-CA" dirty="0" err="1">
                <a:solidFill>
                  <a:schemeClr val="accent5"/>
                </a:solidFill>
              </a:rPr>
              <a:t>agevalue</a:t>
            </a:r>
            <a:r>
              <a:rPr lang="en-CA" i="1" dirty="0">
                <a:solidFill>
                  <a:schemeClr val="accent5"/>
                </a:solidFill>
              </a:rPr>
              <a:t> </a:t>
            </a:r>
            <a:r>
              <a:rPr lang="en-CA" dirty="0"/>
              <a:t>. </a:t>
            </a:r>
          </a:p>
          <a:p>
            <a:r>
              <a:rPr lang="en-CA" dirty="0"/>
              <a:t>So, </a:t>
            </a:r>
            <a:r>
              <a:rPr lang="en-CA" dirty="0" err="1">
                <a:solidFill>
                  <a:schemeClr val="accent5"/>
                </a:solidFill>
              </a:rPr>
              <a:t>agevalue</a:t>
            </a:r>
            <a:r>
              <a:rPr lang="en-CA" i="1" dirty="0">
                <a:solidFill>
                  <a:schemeClr val="accent5"/>
                </a:solidFill>
              </a:rPr>
              <a:t> </a:t>
            </a:r>
            <a:r>
              <a:rPr lang="en-CA" dirty="0"/>
              <a:t>will have the value 100 because 100 is stored at location </a:t>
            </a:r>
            <a:r>
              <a:rPr lang="en-CA" dirty="0">
                <a:solidFill>
                  <a:srgbClr val="FF0000"/>
                </a:solidFill>
              </a:rPr>
              <a:t>2550</a:t>
            </a:r>
            <a:r>
              <a:rPr lang="en-CA" dirty="0"/>
              <a:t>, which is the memory address that was stored in m</a:t>
            </a:r>
            <a:r>
              <a:rPr lang="en-CA" i="1" dirty="0">
                <a:solidFill>
                  <a:schemeClr val="accent5"/>
                </a:solidFill>
              </a:rPr>
              <a:t> </a:t>
            </a:r>
            <a:r>
              <a:rPr lang="en-CA" dirty="0" err="1">
                <a:solidFill>
                  <a:schemeClr val="accent5"/>
                </a:solidFill>
              </a:rPr>
              <a:t>maddress</a:t>
            </a:r>
            <a:r>
              <a:rPr lang="en-CA" i="1" dirty="0">
                <a:solidFill>
                  <a:schemeClr val="accent5"/>
                </a:solidFill>
              </a:rPr>
              <a:t> </a:t>
            </a:r>
            <a:r>
              <a:rPr lang="en-CA" dirty="0"/>
              <a:t>You can think of </a:t>
            </a:r>
            <a:r>
              <a:rPr lang="en-CA" sz="3500" dirty="0">
                <a:solidFill>
                  <a:schemeClr val="accent5"/>
                </a:solidFill>
              </a:rPr>
              <a:t>*</a:t>
            </a:r>
            <a:r>
              <a:rPr lang="en-CA" dirty="0"/>
              <a:t> as “at address.” In this case, the statement means</a:t>
            </a:r>
            <a:r>
              <a:rPr lang="en-CA" i="1" dirty="0">
                <a:solidFill>
                  <a:schemeClr val="accent5"/>
                </a:solidFill>
              </a:rPr>
              <a:t> </a:t>
            </a:r>
            <a:r>
              <a:rPr lang="en-CA" dirty="0" err="1">
                <a:solidFill>
                  <a:schemeClr val="accent5"/>
                </a:solidFill>
              </a:rPr>
              <a:t>agevalue</a:t>
            </a:r>
            <a:r>
              <a:rPr lang="en-CA" i="1" dirty="0">
                <a:solidFill>
                  <a:schemeClr val="accent5"/>
                </a:solidFill>
              </a:rPr>
              <a:t> </a:t>
            </a:r>
            <a:r>
              <a:rPr lang="en-CA" dirty="0"/>
              <a:t>receives the value at address </a:t>
            </a:r>
            <a:r>
              <a:rPr lang="en-CA" dirty="0" err="1">
                <a:solidFill>
                  <a:schemeClr val="accent5"/>
                </a:solidFill>
              </a:rPr>
              <a:t>maddress</a:t>
            </a:r>
            <a:r>
              <a:rPr lang="en-CA" dirty="0">
                <a:solidFill>
                  <a:schemeClr val="accent5"/>
                </a:solidFill>
              </a:rPr>
              <a:t> 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5185436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39815" y="182245"/>
            <a:ext cx="9710907" cy="830629"/>
          </a:xfrm>
        </p:spPr>
        <p:txBody>
          <a:bodyPr>
            <a:normAutofit/>
          </a:bodyPr>
          <a:lstStyle/>
          <a:p>
            <a:r>
              <a:rPr lang="en-CA" dirty="0">
                <a:solidFill>
                  <a:schemeClr val="bg1"/>
                </a:solidFill>
              </a:rPr>
              <a:t>Pointer Arithmetic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7797" y="1508942"/>
            <a:ext cx="10849970" cy="5001039"/>
          </a:xfrm>
        </p:spPr>
        <p:txBody>
          <a:bodyPr>
            <a:normAutofit lnSpcReduction="10000"/>
          </a:bodyPr>
          <a:lstStyle/>
          <a:p>
            <a:r>
              <a:rPr lang="en-CA" dirty="0"/>
              <a:t>There are only two arithmetic operations that you may use on pointers: addition and subtraction.</a:t>
            </a:r>
          </a:p>
          <a:p>
            <a:r>
              <a:rPr lang="en-CA" dirty="0" err="1"/>
              <a:t>int</a:t>
            </a:r>
            <a:r>
              <a:rPr lang="en-CA" dirty="0"/>
              <a:t> *p;</a:t>
            </a:r>
          </a:p>
          <a:p>
            <a:r>
              <a:rPr lang="en-CA" dirty="0"/>
              <a:t>p++;   p--;</a:t>
            </a:r>
          </a:p>
          <a:p>
            <a:r>
              <a:rPr lang="en-CA" dirty="0"/>
              <a:t>Each time a pointer is incremented, it points to the memory location of the next element of its base type. </a:t>
            </a:r>
          </a:p>
          <a:p>
            <a:r>
              <a:rPr lang="en-CA" dirty="0"/>
              <a:t>Each time it is decremented, it points to the location of the previous element.</a:t>
            </a:r>
          </a:p>
          <a:p>
            <a:r>
              <a:rPr lang="en-CA" dirty="0"/>
              <a:t>When applied to character pointers, this will appear as "normal" arithmetic because characters are always 1 byte long. </a:t>
            </a:r>
          </a:p>
          <a:p>
            <a:r>
              <a:rPr lang="en-CA" dirty="0"/>
              <a:t>All other pointers will increase or decrease by the length of the data type they point to.</a:t>
            </a:r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7969917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39815" y="182245"/>
            <a:ext cx="9710907" cy="830629"/>
          </a:xfrm>
        </p:spPr>
        <p:txBody>
          <a:bodyPr>
            <a:normAutofit/>
          </a:bodyPr>
          <a:lstStyle/>
          <a:p>
            <a:r>
              <a:rPr lang="en-CA" dirty="0">
                <a:solidFill>
                  <a:schemeClr val="bg1"/>
                </a:solidFill>
              </a:rPr>
              <a:t>Pointer Comparisons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08942"/>
            <a:ext cx="10515600" cy="5219403"/>
          </a:xfrm>
        </p:spPr>
        <p:txBody>
          <a:bodyPr>
            <a:normAutofit lnSpcReduction="10000"/>
          </a:bodyPr>
          <a:lstStyle/>
          <a:p>
            <a:r>
              <a:rPr lang="en-CA" dirty="0"/>
              <a:t>You can compare two pointers in a relational expression.</a:t>
            </a:r>
          </a:p>
          <a:p>
            <a:r>
              <a:rPr lang="en-CA" dirty="0">
                <a:solidFill>
                  <a:schemeClr val="accent5">
                    <a:lumMod val="75000"/>
                  </a:schemeClr>
                </a:solidFill>
              </a:rPr>
              <a:t>if(p&lt;q) </a:t>
            </a:r>
            <a:r>
              <a:rPr lang="en-CA" dirty="0" err="1">
                <a:solidFill>
                  <a:schemeClr val="accent5">
                    <a:lumMod val="75000"/>
                  </a:schemeClr>
                </a:solidFill>
              </a:rPr>
              <a:t>printf</a:t>
            </a:r>
            <a:r>
              <a:rPr lang="en-CA" dirty="0">
                <a:solidFill>
                  <a:schemeClr val="accent5">
                    <a:lumMod val="75000"/>
                  </a:schemeClr>
                </a:solidFill>
              </a:rPr>
              <a:t>("p points to lower memory than q\n");</a:t>
            </a:r>
          </a:p>
          <a:p>
            <a:r>
              <a:rPr lang="en-CA" dirty="0"/>
              <a:t>Pointer comparisons are used when two or more pointers point to a common object, such as an array.</a:t>
            </a:r>
          </a:p>
          <a:p>
            <a:pPr marL="0" indent="0">
              <a:buNone/>
            </a:pPr>
            <a:r>
              <a:rPr lang="en-CA" sz="2400" dirty="0" err="1">
                <a:solidFill>
                  <a:schemeClr val="accent5">
                    <a:lumMod val="75000"/>
                  </a:schemeClr>
                </a:solidFill>
              </a:rPr>
              <a:t>int</a:t>
            </a:r>
            <a:r>
              <a:rPr lang="en-CA" sz="2400" dirty="0">
                <a:solidFill>
                  <a:schemeClr val="accent5">
                    <a:lumMod val="75000"/>
                  </a:schemeClr>
                </a:solidFill>
              </a:rPr>
              <a:t> a = 2;</a:t>
            </a:r>
          </a:p>
          <a:p>
            <a:pPr marL="0" indent="0">
              <a:buNone/>
            </a:pPr>
            <a:r>
              <a:rPr lang="en-CA" sz="2400" dirty="0" err="1">
                <a:solidFill>
                  <a:schemeClr val="accent5">
                    <a:lumMod val="75000"/>
                  </a:schemeClr>
                </a:solidFill>
              </a:rPr>
              <a:t>int</a:t>
            </a:r>
            <a:r>
              <a:rPr lang="en-CA" sz="2400" dirty="0">
                <a:solidFill>
                  <a:schemeClr val="accent5">
                    <a:lumMod val="75000"/>
                  </a:schemeClr>
                </a:solidFill>
              </a:rPr>
              <a:t> b = 5;</a:t>
            </a:r>
          </a:p>
          <a:p>
            <a:pPr marL="0" indent="0">
              <a:buNone/>
            </a:pPr>
            <a:r>
              <a:rPr lang="en-CA" sz="2400" dirty="0" err="1">
                <a:solidFill>
                  <a:schemeClr val="accent5">
                    <a:lumMod val="75000"/>
                  </a:schemeClr>
                </a:solidFill>
              </a:rPr>
              <a:t>int</a:t>
            </a:r>
            <a:r>
              <a:rPr lang="en-CA" sz="2400" dirty="0">
                <a:solidFill>
                  <a:schemeClr val="accent5">
                    <a:lumMod val="75000"/>
                  </a:schemeClr>
                </a:solidFill>
              </a:rPr>
              <a:t> *p1 = &amp;a;</a:t>
            </a:r>
          </a:p>
          <a:p>
            <a:pPr marL="0" indent="0">
              <a:buNone/>
            </a:pPr>
            <a:r>
              <a:rPr lang="en-CA" sz="2400" dirty="0" err="1">
                <a:solidFill>
                  <a:schemeClr val="accent5">
                    <a:lumMod val="75000"/>
                  </a:schemeClr>
                </a:solidFill>
              </a:rPr>
              <a:t>int</a:t>
            </a:r>
            <a:r>
              <a:rPr lang="en-CA" sz="2400" dirty="0">
                <a:solidFill>
                  <a:schemeClr val="accent5">
                    <a:lumMod val="75000"/>
                  </a:schemeClr>
                </a:solidFill>
              </a:rPr>
              <a:t> *p2 = &amp;b;</a:t>
            </a:r>
          </a:p>
          <a:p>
            <a:r>
              <a:rPr lang="en-CA" dirty="0"/>
              <a:t>What is the result of the following comparisons?</a:t>
            </a:r>
          </a:p>
          <a:p>
            <a:pPr marL="0" indent="0">
              <a:buNone/>
            </a:pPr>
            <a:r>
              <a:rPr lang="en-CA" dirty="0">
                <a:solidFill>
                  <a:schemeClr val="accent5">
                    <a:lumMod val="75000"/>
                  </a:schemeClr>
                </a:solidFill>
              </a:rPr>
              <a:t>p1 == p2;   a == b;   a &gt; b;  &amp;a == b;  *p1 == a;</a:t>
            </a:r>
          </a:p>
          <a:p>
            <a:pPr marL="0" indent="0">
              <a:buNone/>
            </a:pPr>
            <a:r>
              <a:rPr lang="en-CA" dirty="0"/>
              <a:t>And now – </a:t>
            </a:r>
            <a:r>
              <a:rPr lang="en-CA" dirty="0">
                <a:solidFill>
                  <a:schemeClr val="accent5">
                    <a:lumMod val="75000"/>
                  </a:schemeClr>
                </a:solidFill>
              </a:rPr>
              <a:t>p1 = p2;     p2 == &amp;b;  p1 &lt; p2;  *p2 == b;</a:t>
            </a:r>
          </a:p>
        </p:txBody>
      </p:sp>
    </p:spTree>
    <p:extLst>
      <p:ext uri="{BB962C8B-B14F-4D97-AF65-F5344CB8AC3E}">
        <p14:creationId xmlns:p14="http://schemas.microsoft.com/office/powerpoint/2010/main" val="9951916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39815" y="182245"/>
            <a:ext cx="9710907" cy="830629"/>
          </a:xfrm>
        </p:spPr>
        <p:txBody>
          <a:bodyPr>
            <a:normAutofit/>
          </a:bodyPr>
          <a:lstStyle/>
          <a:p>
            <a:r>
              <a:rPr lang="en-CA" dirty="0">
                <a:solidFill>
                  <a:schemeClr val="bg1"/>
                </a:solidFill>
              </a:rPr>
              <a:t>Arrays and pointers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CA" dirty="0"/>
              <a:t>There is a close relationship between pointers and arrays.</a:t>
            </a:r>
          </a:p>
          <a:p>
            <a:pPr marL="0" indent="0">
              <a:buNone/>
            </a:pPr>
            <a:r>
              <a:rPr lang="en-CA" dirty="0">
                <a:solidFill>
                  <a:schemeClr val="accent5">
                    <a:lumMod val="75000"/>
                  </a:schemeClr>
                </a:solidFill>
              </a:rPr>
              <a:t>char </a:t>
            </a:r>
            <a:r>
              <a:rPr lang="en-CA" dirty="0" err="1">
                <a:solidFill>
                  <a:schemeClr val="accent5">
                    <a:lumMod val="75000"/>
                  </a:schemeClr>
                </a:solidFill>
              </a:rPr>
              <a:t>arr</a:t>
            </a:r>
            <a:r>
              <a:rPr lang="en-CA" dirty="0">
                <a:solidFill>
                  <a:schemeClr val="accent5">
                    <a:lumMod val="75000"/>
                  </a:schemeClr>
                </a:solidFill>
              </a:rPr>
              <a:t>[80], *p1;</a:t>
            </a:r>
          </a:p>
          <a:p>
            <a:pPr marL="0" indent="0">
              <a:buNone/>
            </a:pPr>
            <a:r>
              <a:rPr lang="en-CA" dirty="0">
                <a:solidFill>
                  <a:schemeClr val="accent5">
                    <a:lumMod val="75000"/>
                  </a:schemeClr>
                </a:solidFill>
              </a:rPr>
              <a:t>p1 = </a:t>
            </a:r>
            <a:r>
              <a:rPr lang="en-CA" dirty="0" err="1">
                <a:solidFill>
                  <a:schemeClr val="accent5">
                    <a:lumMod val="75000"/>
                  </a:schemeClr>
                </a:solidFill>
              </a:rPr>
              <a:t>arr</a:t>
            </a:r>
            <a:r>
              <a:rPr lang="en-CA" dirty="0">
                <a:solidFill>
                  <a:schemeClr val="accent5">
                    <a:lumMod val="75000"/>
                  </a:schemeClr>
                </a:solidFill>
              </a:rPr>
              <a:t>;</a:t>
            </a:r>
          </a:p>
          <a:p>
            <a:r>
              <a:rPr lang="en-CA" dirty="0"/>
              <a:t>p1 has been set to the address of the first array element in arr. To access the fifth element in </a:t>
            </a:r>
            <a:r>
              <a:rPr lang="en-CA" dirty="0" err="1"/>
              <a:t>arr</a:t>
            </a:r>
            <a:r>
              <a:rPr lang="en-CA" dirty="0"/>
              <a:t>, you could write</a:t>
            </a:r>
          </a:p>
          <a:p>
            <a:pPr marL="0" indent="0">
              <a:buNone/>
            </a:pPr>
            <a:r>
              <a:rPr lang="en-CA" dirty="0" err="1">
                <a:solidFill>
                  <a:schemeClr val="accent5">
                    <a:lumMod val="75000"/>
                  </a:schemeClr>
                </a:solidFill>
              </a:rPr>
              <a:t>arr</a:t>
            </a:r>
            <a:r>
              <a:rPr lang="en-CA" dirty="0">
                <a:solidFill>
                  <a:schemeClr val="accent5">
                    <a:lumMod val="75000"/>
                  </a:schemeClr>
                </a:solidFill>
              </a:rPr>
              <a:t>[4];   </a:t>
            </a:r>
            <a:r>
              <a:rPr lang="en-CA" dirty="0"/>
              <a:t>or</a:t>
            </a:r>
            <a:r>
              <a:rPr lang="en-CA" dirty="0">
                <a:solidFill>
                  <a:schemeClr val="accent5">
                    <a:lumMod val="75000"/>
                  </a:schemeClr>
                </a:solidFill>
              </a:rPr>
              <a:t>   *(p1+4);</a:t>
            </a:r>
          </a:p>
          <a:p>
            <a:r>
              <a:rPr lang="en-CA" dirty="0"/>
              <a:t>Although the standard array-indexing notation is sometimes easier to understand, pointer arithmetic can be faster. Since speed is often a consideration in programming algorithms.</a:t>
            </a:r>
          </a:p>
        </p:txBody>
      </p:sp>
    </p:spTree>
    <p:extLst>
      <p:ext uri="{BB962C8B-B14F-4D97-AF65-F5344CB8AC3E}">
        <p14:creationId xmlns:p14="http://schemas.microsoft.com/office/powerpoint/2010/main" val="35624637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39815" y="182245"/>
            <a:ext cx="9710907" cy="830629"/>
          </a:xfrm>
        </p:spPr>
        <p:txBody>
          <a:bodyPr>
            <a:normAutofit/>
          </a:bodyPr>
          <a:lstStyle/>
          <a:p>
            <a:r>
              <a:rPr lang="en-CA" dirty="0">
                <a:solidFill>
                  <a:schemeClr val="bg1"/>
                </a:solidFill>
              </a:rPr>
              <a:t>Arrays of Pointers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68741" y="1508942"/>
            <a:ext cx="10945504" cy="4905505"/>
          </a:xfrm>
        </p:spPr>
        <p:txBody>
          <a:bodyPr>
            <a:normAutofit/>
          </a:bodyPr>
          <a:lstStyle/>
          <a:p>
            <a:r>
              <a:rPr lang="en-CA" dirty="0"/>
              <a:t>Pointers may be arrayed like any other data type. </a:t>
            </a:r>
          </a:p>
          <a:p>
            <a:r>
              <a:rPr lang="en-CA" dirty="0"/>
              <a:t>The declaration for an </a:t>
            </a:r>
            <a:r>
              <a:rPr lang="en-CA" dirty="0" err="1"/>
              <a:t>int</a:t>
            </a:r>
            <a:r>
              <a:rPr lang="en-CA" dirty="0"/>
              <a:t> pointer array of size 10 is</a:t>
            </a:r>
          </a:p>
          <a:p>
            <a:pPr marL="0" indent="0">
              <a:buNone/>
            </a:pPr>
            <a:r>
              <a:rPr lang="en-CA" dirty="0" err="1">
                <a:solidFill>
                  <a:schemeClr val="accent5">
                    <a:lumMod val="75000"/>
                  </a:schemeClr>
                </a:solidFill>
              </a:rPr>
              <a:t>int</a:t>
            </a:r>
            <a:r>
              <a:rPr lang="en-CA" dirty="0">
                <a:solidFill>
                  <a:schemeClr val="accent5">
                    <a:lumMod val="75000"/>
                  </a:schemeClr>
                </a:solidFill>
              </a:rPr>
              <a:t> *x[10];</a:t>
            </a:r>
          </a:p>
          <a:p>
            <a:pPr marL="0" indent="0">
              <a:buNone/>
            </a:pPr>
            <a:r>
              <a:rPr lang="en-CA" dirty="0"/>
              <a:t>To assign the address of an integer variable called </a:t>
            </a:r>
            <a:r>
              <a:rPr lang="en-CA" dirty="0" err="1"/>
              <a:t>var</a:t>
            </a:r>
            <a:r>
              <a:rPr lang="en-CA" dirty="0"/>
              <a:t> to the third element of the pointer array,</a:t>
            </a:r>
          </a:p>
          <a:p>
            <a:pPr marL="0" indent="0">
              <a:buNone/>
            </a:pPr>
            <a:r>
              <a:rPr lang="en-CA" dirty="0">
                <a:solidFill>
                  <a:schemeClr val="accent5">
                    <a:lumMod val="75000"/>
                  </a:schemeClr>
                </a:solidFill>
              </a:rPr>
              <a:t>x[2] = &amp;</a:t>
            </a:r>
            <a:r>
              <a:rPr lang="en-CA" dirty="0" err="1">
                <a:solidFill>
                  <a:schemeClr val="accent5">
                    <a:lumMod val="75000"/>
                  </a:schemeClr>
                </a:solidFill>
              </a:rPr>
              <a:t>var</a:t>
            </a:r>
            <a:r>
              <a:rPr lang="en-CA" dirty="0">
                <a:solidFill>
                  <a:schemeClr val="accent5">
                    <a:lumMod val="75000"/>
                  </a:schemeClr>
                </a:solidFill>
              </a:rPr>
              <a:t>;</a:t>
            </a:r>
          </a:p>
          <a:p>
            <a:pPr marL="0" indent="0">
              <a:buNone/>
            </a:pPr>
            <a:r>
              <a:rPr lang="en-CA" dirty="0"/>
              <a:t>To find the value of </a:t>
            </a:r>
            <a:r>
              <a:rPr lang="en-CA" dirty="0" err="1"/>
              <a:t>var</a:t>
            </a:r>
            <a:r>
              <a:rPr lang="en-CA" dirty="0"/>
              <a:t>, write</a:t>
            </a:r>
          </a:p>
          <a:p>
            <a:pPr marL="0" indent="0">
              <a:buNone/>
            </a:pPr>
            <a:r>
              <a:rPr lang="en-CA" dirty="0" err="1">
                <a:solidFill>
                  <a:schemeClr val="accent5">
                    <a:lumMod val="75000"/>
                  </a:schemeClr>
                </a:solidFill>
              </a:rPr>
              <a:t>int</a:t>
            </a:r>
            <a:r>
              <a:rPr lang="en-CA" dirty="0">
                <a:solidFill>
                  <a:schemeClr val="accent5">
                    <a:lumMod val="75000"/>
                  </a:schemeClr>
                </a:solidFill>
              </a:rPr>
              <a:t> c = *x[2];</a:t>
            </a:r>
          </a:p>
          <a:p>
            <a:r>
              <a:rPr lang="en-CA" dirty="0"/>
              <a:t>Understanding how pointers work will be critical to our implementation of algorithms and data structures.</a:t>
            </a:r>
          </a:p>
        </p:txBody>
      </p:sp>
    </p:spTree>
    <p:extLst>
      <p:ext uri="{BB962C8B-B14F-4D97-AF65-F5344CB8AC3E}">
        <p14:creationId xmlns:p14="http://schemas.microsoft.com/office/powerpoint/2010/main" val="36256983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39815" y="182245"/>
            <a:ext cx="9710907" cy="830629"/>
          </a:xfrm>
        </p:spPr>
        <p:txBody>
          <a:bodyPr>
            <a:normAutofit/>
          </a:bodyPr>
          <a:lstStyle/>
          <a:p>
            <a:r>
              <a:rPr lang="en-CA" dirty="0">
                <a:solidFill>
                  <a:schemeClr val="bg1"/>
                </a:solidFill>
              </a:rPr>
              <a:t>Pointer </a:t>
            </a:r>
            <a:r>
              <a:rPr lang="en-CA" dirty="0" err="1">
                <a:solidFill>
                  <a:schemeClr val="bg1"/>
                </a:solidFill>
              </a:rPr>
              <a:t>Excercises</a:t>
            </a:r>
            <a:endParaRPr lang="en-CA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CA" dirty="0">
                <a:solidFill>
                  <a:srgbClr val="C00000"/>
                </a:solidFill>
              </a:rPr>
              <a:t>Exercise 1 </a:t>
            </a:r>
          </a:p>
          <a:p>
            <a:r>
              <a:rPr lang="en-CA" dirty="0">
                <a:solidFill>
                  <a:schemeClr val="accent5">
                    <a:lumMod val="75000"/>
                  </a:schemeClr>
                </a:solidFill>
              </a:rPr>
              <a:t>Write a program to accept five integer values from keyword.</a:t>
            </a:r>
          </a:p>
          <a:p>
            <a:r>
              <a:rPr lang="en-CA" dirty="0">
                <a:solidFill>
                  <a:schemeClr val="accent5">
                    <a:lumMod val="75000"/>
                  </a:schemeClr>
                </a:solidFill>
              </a:rPr>
              <a:t>Use pointer arithmetic to refer to the array elements.</a:t>
            </a:r>
          </a:p>
          <a:p>
            <a:r>
              <a:rPr lang="en-CA" dirty="0">
                <a:solidFill>
                  <a:schemeClr val="accent5">
                    <a:lumMod val="75000"/>
                  </a:schemeClr>
                </a:solidFill>
              </a:rPr>
              <a:t>Print the values of the elements forward and reverse.</a:t>
            </a:r>
          </a:p>
          <a:p>
            <a:r>
              <a:rPr lang="en-CA" dirty="0"/>
              <a:t>Remember our input and output streams.</a:t>
            </a:r>
          </a:p>
          <a:p>
            <a:pPr marL="0" indent="0">
              <a:buNone/>
            </a:pPr>
            <a:r>
              <a:rPr lang="en-CA" dirty="0"/>
              <a:t>#include&lt;</a:t>
            </a:r>
            <a:r>
              <a:rPr lang="en-CA" dirty="0" err="1"/>
              <a:t>iostream</a:t>
            </a:r>
            <a:r>
              <a:rPr lang="en-CA" dirty="0"/>
              <a:t>&gt;</a:t>
            </a:r>
          </a:p>
          <a:p>
            <a:pPr marL="0" indent="0">
              <a:buNone/>
            </a:pPr>
            <a:r>
              <a:rPr lang="en-CA" dirty="0"/>
              <a:t>#include&lt;</a:t>
            </a:r>
            <a:r>
              <a:rPr lang="en-CA" dirty="0" err="1"/>
              <a:t>conio.h</a:t>
            </a:r>
            <a:r>
              <a:rPr lang="en-CA" dirty="0"/>
              <a:t>&gt;</a:t>
            </a:r>
          </a:p>
          <a:p>
            <a:pPr marL="0" indent="0">
              <a:buNone/>
            </a:pPr>
            <a:r>
              <a:rPr lang="en-CA" dirty="0" err="1"/>
              <a:t>cout</a:t>
            </a:r>
            <a:r>
              <a:rPr lang="en-CA" dirty="0"/>
              <a:t> &lt;&lt; “Print something” &lt;&lt; </a:t>
            </a:r>
            <a:r>
              <a:rPr lang="en-CA" dirty="0" err="1"/>
              <a:t>endl</a:t>
            </a:r>
            <a:r>
              <a:rPr lang="en-CA" dirty="0"/>
              <a:t>;</a:t>
            </a:r>
          </a:p>
          <a:p>
            <a:pPr marL="0" indent="0">
              <a:buNone/>
            </a:pPr>
            <a:r>
              <a:rPr lang="en-CA" dirty="0" err="1"/>
              <a:t>cin</a:t>
            </a:r>
            <a:r>
              <a:rPr lang="en-CA" dirty="0"/>
              <a:t> &gt;&gt; variable;</a:t>
            </a:r>
          </a:p>
        </p:txBody>
      </p:sp>
    </p:spTree>
    <p:extLst>
      <p:ext uri="{BB962C8B-B14F-4D97-AF65-F5344CB8AC3E}">
        <p14:creationId xmlns:p14="http://schemas.microsoft.com/office/powerpoint/2010/main" val="41160269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39815" y="182245"/>
            <a:ext cx="9710907" cy="830629"/>
          </a:xfrm>
        </p:spPr>
        <p:txBody>
          <a:bodyPr>
            <a:normAutofit/>
          </a:bodyPr>
          <a:lstStyle/>
          <a:p>
            <a:r>
              <a:rPr lang="en-CA" dirty="0">
                <a:solidFill>
                  <a:schemeClr val="bg1"/>
                </a:solidFill>
              </a:rPr>
              <a:t>Pointer </a:t>
            </a:r>
            <a:r>
              <a:rPr lang="en-CA" dirty="0" err="1">
                <a:solidFill>
                  <a:schemeClr val="bg1"/>
                </a:solidFill>
              </a:rPr>
              <a:t>Excercises</a:t>
            </a:r>
            <a:endParaRPr lang="en-CA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CA" dirty="0">
                <a:solidFill>
                  <a:srgbClr val="C00000"/>
                </a:solidFill>
              </a:rPr>
              <a:t>Exercise 2</a:t>
            </a:r>
          </a:p>
          <a:p>
            <a:r>
              <a:rPr lang="en-CA" dirty="0">
                <a:solidFill>
                  <a:schemeClr val="accent5">
                    <a:lumMod val="75000"/>
                  </a:schemeClr>
                </a:solidFill>
              </a:rPr>
              <a:t>Write a program to the elements of an array in reverse order using a pointer</a:t>
            </a:r>
          </a:p>
          <a:p>
            <a:r>
              <a:rPr lang="en-CA" dirty="0">
                <a:solidFill>
                  <a:schemeClr val="accent5">
                    <a:lumMod val="75000"/>
                  </a:schemeClr>
                </a:solidFill>
              </a:rPr>
              <a:t>Take input from the keyboard, 5 characters</a:t>
            </a:r>
          </a:p>
          <a:p>
            <a:r>
              <a:rPr lang="en-CA" dirty="0">
                <a:solidFill>
                  <a:schemeClr val="accent5">
                    <a:lumMod val="75000"/>
                  </a:schemeClr>
                </a:solidFill>
              </a:rPr>
              <a:t>Print out the 5 characters in order</a:t>
            </a:r>
          </a:p>
          <a:p>
            <a:r>
              <a:rPr lang="en-CA" dirty="0">
                <a:solidFill>
                  <a:schemeClr val="accent5">
                    <a:lumMod val="75000"/>
                  </a:schemeClr>
                </a:solidFill>
              </a:rPr>
              <a:t>Print them again in reverse order</a:t>
            </a:r>
          </a:p>
          <a:p>
            <a:r>
              <a:rPr lang="en-CA" dirty="0">
                <a:solidFill>
                  <a:schemeClr val="accent5">
                    <a:lumMod val="75000"/>
                  </a:schemeClr>
                </a:solidFill>
              </a:rPr>
              <a:t>Use pointer notation for all of the above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6978239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69743" y="182245"/>
            <a:ext cx="9976514" cy="830629"/>
          </a:xfrm>
        </p:spPr>
        <p:txBody>
          <a:bodyPr>
            <a:normAutofit fontScale="90000"/>
          </a:bodyPr>
          <a:lstStyle/>
          <a:p>
            <a:r>
              <a:rPr lang="en-CA" dirty="0">
                <a:solidFill>
                  <a:schemeClr val="bg1"/>
                </a:solidFill>
              </a:rPr>
              <a:t>Using Pointers to Pass Parameters by Reference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CA" dirty="0"/>
              <a:t>Pointers can be used in passing parameters to a function by reference</a:t>
            </a:r>
          </a:p>
          <a:p>
            <a:r>
              <a:rPr lang="en-CA" dirty="0"/>
              <a:t>You want to pass the addresses of the data to a function rather than the values of the data</a:t>
            </a:r>
          </a:p>
          <a:p>
            <a:r>
              <a:rPr lang="en-CA" dirty="0"/>
              <a:t>Variables define outside the scope of the function and passed to the function as parameters will not have their values changed if passed by value.</a:t>
            </a:r>
          </a:p>
          <a:p>
            <a:r>
              <a:rPr lang="en-CA" dirty="0"/>
              <a:t>If we pass a pointer to the variable we can then change the value even though the variable was declared outside of the function/method</a:t>
            </a:r>
          </a:p>
          <a:p>
            <a:r>
              <a:rPr lang="en-CA" dirty="0"/>
              <a:t>Passing a pointer allows us to pass variables to the function by reference.</a:t>
            </a:r>
          </a:p>
        </p:txBody>
      </p:sp>
    </p:spTree>
    <p:extLst>
      <p:ext uri="{BB962C8B-B14F-4D97-AF65-F5344CB8AC3E}">
        <p14:creationId xmlns:p14="http://schemas.microsoft.com/office/powerpoint/2010/main" val="20740596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39815" y="182245"/>
            <a:ext cx="9710907" cy="830629"/>
          </a:xfrm>
        </p:spPr>
        <p:txBody>
          <a:bodyPr>
            <a:normAutofit/>
          </a:bodyPr>
          <a:lstStyle/>
          <a:p>
            <a:r>
              <a:rPr lang="en-CA" dirty="0">
                <a:solidFill>
                  <a:schemeClr val="bg1"/>
                </a:solidFill>
              </a:rPr>
              <a:t>Example of passing by reference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6856" y="1522591"/>
            <a:ext cx="4981432" cy="4554232"/>
          </a:xfrm>
          <a:ln>
            <a:solidFill>
              <a:schemeClr val="accent1"/>
            </a:solidFill>
          </a:ln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CA" dirty="0"/>
              <a:t>    </a:t>
            </a:r>
            <a:r>
              <a:rPr lang="en-CA" dirty="0" err="1"/>
              <a:t>int</a:t>
            </a:r>
            <a:r>
              <a:rPr lang="en-CA" dirty="0"/>
              <a:t> a = 5;</a:t>
            </a:r>
          </a:p>
          <a:p>
            <a:pPr marL="0" indent="0">
              <a:buNone/>
            </a:pPr>
            <a:r>
              <a:rPr lang="en-CA" dirty="0"/>
              <a:t>    </a:t>
            </a:r>
            <a:r>
              <a:rPr lang="en-CA" dirty="0" err="1"/>
              <a:t>int</a:t>
            </a:r>
            <a:r>
              <a:rPr lang="en-CA" dirty="0"/>
              <a:t> b = 9;</a:t>
            </a:r>
          </a:p>
          <a:p>
            <a:pPr marL="0" indent="0">
              <a:buNone/>
            </a:pPr>
            <a:r>
              <a:rPr lang="en-CA" dirty="0"/>
              <a:t>    swap(</a:t>
            </a:r>
            <a:r>
              <a:rPr lang="en-CA" dirty="0" err="1"/>
              <a:t>a,b</a:t>
            </a:r>
            <a:r>
              <a:rPr lang="en-CA" dirty="0"/>
              <a:t>);    </a:t>
            </a:r>
            <a:r>
              <a:rPr lang="en-CA" sz="2500" dirty="0">
                <a:solidFill>
                  <a:schemeClr val="accent1">
                    <a:lumMod val="75000"/>
                  </a:schemeClr>
                </a:solidFill>
              </a:rPr>
              <a:t>// main </a:t>
            </a:r>
            <a:r>
              <a:rPr lang="en-CA" sz="2500" dirty="0" err="1">
                <a:solidFill>
                  <a:schemeClr val="accent1">
                    <a:lumMod val="75000"/>
                  </a:schemeClr>
                </a:solidFill>
              </a:rPr>
              <a:t>pgm</a:t>
            </a:r>
            <a:r>
              <a:rPr lang="en-CA" sz="2500" dirty="0">
                <a:solidFill>
                  <a:schemeClr val="accent1">
                    <a:lumMod val="75000"/>
                  </a:schemeClr>
                </a:solidFill>
              </a:rPr>
              <a:t> function call</a:t>
            </a:r>
          </a:p>
          <a:p>
            <a:pPr marL="0" indent="0">
              <a:buNone/>
            </a:pPr>
            <a:r>
              <a:rPr lang="en-CA" dirty="0"/>
              <a:t>	...</a:t>
            </a:r>
          </a:p>
          <a:p>
            <a:pPr marL="0" indent="0">
              <a:buNone/>
            </a:pPr>
            <a:r>
              <a:rPr lang="en-CA" dirty="0"/>
              <a:t>void swap(</a:t>
            </a:r>
            <a:r>
              <a:rPr lang="en-CA" dirty="0" err="1"/>
              <a:t>int</a:t>
            </a:r>
            <a:r>
              <a:rPr lang="en-CA" dirty="0"/>
              <a:t> x, </a:t>
            </a:r>
            <a:r>
              <a:rPr lang="en-CA" dirty="0" err="1"/>
              <a:t>int</a:t>
            </a:r>
            <a:r>
              <a:rPr lang="en-CA" dirty="0"/>
              <a:t> y)	</a:t>
            </a:r>
            <a:r>
              <a:rPr lang="en-CA" sz="2500" dirty="0">
                <a:solidFill>
                  <a:schemeClr val="accent1">
                    <a:lumMod val="75000"/>
                  </a:schemeClr>
                </a:solidFill>
              </a:rPr>
              <a:t>// pass by value</a:t>
            </a:r>
          </a:p>
          <a:p>
            <a:pPr marL="0" indent="0">
              <a:buNone/>
            </a:pPr>
            <a:r>
              <a:rPr lang="en-CA" dirty="0"/>
              <a:t>{</a:t>
            </a:r>
          </a:p>
          <a:p>
            <a:pPr marL="0" indent="0">
              <a:buNone/>
            </a:pPr>
            <a:r>
              <a:rPr lang="en-CA" dirty="0"/>
              <a:t>        </a:t>
            </a:r>
            <a:r>
              <a:rPr lang="en-CA" dirty="0" err="1"/>
              <a:t>int</a:t>
            </a:r>
            <a:r>
              <a:rPr lang="en-CA" dirty="0"/>
              <a:t> temp;</a:t>
            </a:r>
          </a:p>
          <a:p>
            <a:pPr marL="0" indent="0">
              <a:buNone/>
            </a:pPr>
            <a:r>
              <a:rPr lang="en-CA" dirty="0"/>
              <a:t>        temp = x;</a:t>
            </a:r>
          </a:p>
          <a:p>
            <a:pPr marL="0" indent="0">
              <a:buNone/>
            </a:pPr>
            <a:r>
              <a:rPr lang="en-CA" dirty="0"/>
              <a:t>        x = y;</a:t>
            </a:r>
          </a:p>
          <a:p>
            <a:pPr marL="0" indent="0">
              <a:buNone/>
            </a:pPr>
            <a:r>
              <a:rPr lang="en-CA" dirty="0"/>
              <a:t>        y = temp;</a:t>
            </a:r>
          </a:p>
          <a:p>
            <a:pPr marL="0" indent="0">
              <a:buNone/>
            </a:pPr>
            <a:r>
              <a:rPr lang="en-CA" dirty="0"/>
              <a:t>       return;</a:t>
            </a:r>
          </a:p>
          <a:p>
            <a:pPr marL="0" indent="0">
              <a:buNone/>
            </a:pPr>
            <a:r>
              <a:rPr lang="en-CA" dirty="0"/>
              <a:t>}</a:t>
            </a:r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6037998" y="1522591"/>
            <a:ext cx="5357884" cy="4554232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vert="horz" lIns="91440" tIns="45720" rIns="91440" bIns="45720" rtlCol="0">
            <a:normAutofit fontScale="6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CA" sz="3500" dirty="0"/>
              <a:t>    </a:t>
            </a:r>
            <a:r>
              <a:rPr lang="en-CA" sz="3500" dirty="0" err="1"/>
              <a:t>int</a:t>
            </a:r>
            <a:r>
              <a:rPr lang="en-CA" sz="3500" dirty="0"/>
              <a:t> a = 5;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CA" sz="3500" dirty="0"/>
              <a:t>    </a:t>
            </a:r>
            <a:r>
              <a:rPr lang="en-CA" sz="3500" dirty="0" err="1"/>
              <a:t>int</a:t>
            </a:r>
            <a:r>
              <a:rPr lang="en-CA" sz="3500" dirty="0"/>
              <a:t> b = 9;</a:t>
            </a:r>
          </a:p>
          <a:p>
            <a:pPr marL="0" indent="0">
              <a:buNone/>
            </a:pPr>
            <a:r>
              <a:rPr lang="en-CA" sz="3500" dirty="0">
                <a:solidFill>
                  <a:srgbClr val="FF0000"/>
                </a:solidFill>
              </a:rPr>
              <a:t>    swap (&amp;a, &amp;b);  </a:t>
            </a:r>
            <a:r>
              <a:rPr lang="en-CA" sz="3100" dirty="0">
                <a:solidFill>
                  <a:schemeClr val="accent1">
                    <a:lumMod val="75000"/>
                  </a:schemeClr>
                </a:solidFill>
              </a:rPr>
              <a:t>// main </a:t>
            </a:r>
            <a:r>
              <a:rPr lang="en-CA" sz="3100" dirty="0" err="1">
                <a:solidFill>
                  <a:schemeClr val="accent1">
                    <a:lumMod val="75000"/>
                  </a:schemeClr>
                </a:solidFill>
              </a:rPr>
              <a:t>pgm</a:t>
            </a:r>
            <a:r>
              <a:rPr lang="en-CA" sz="3100" dirty="0">
                <a:solidFill>
                  <a:schemeClr val="accent1">
                    <a:lumMod val="75000"/>
                  </a:schemeClr>
                </a:solidFill>
              </a:rPr>
              <a:t> function call</a:t>
            </a:r>
          </a:p>
          <a:p>
            <a:pPr marL="0" indent="0">
              <a:buNone/>
            </a:pPr>
            <a:r>
              <a:rPr lang="en-CA" sz="3100" dirty="0">
                <a:solidFill>
                  <a:schemeClr val="accent1">
                    <a:lumMod val="75000"/>
                  </a:schemeClr>
                </a:solidFill>
              </a:rPr>
              <a:t>// pass by reference using pointers</a:t>
            </a:r>
          </a:p>
          <a:p>
            <a:pPr marL="0" indent="0">
              <a:buNone/>
            </a:pPr>
            <a:r>
              <a:rPr lang="en-CA" sz="3500" dirty="0"/>
              <a:t>void swap (</a:t>
            </a:r>
            <a:r>
              <a:rPr lang="en-CA" sz="3500" dirty="0" err="1">
                <a:solidFill>
                  <a:srgbClr val="FF0000"/>
                </a:solidFill>
              </a:rPr>
              <a:t>int</a:t>
            </a:r>
            <a:r>
              <a:rPr lang="en-CA" sz="3500" dirty="0">
                <a:solidFill>
                  <a:srgbClr val="FF0000"/>
                </a:solidFill>
              </a:rPr>
              <a:t>* x, </a:t>
            </a:r>
            <a:r>
              <a:rPr lang="en-CA" sz="3500" dirty="0" err="1">
                <a:solidFill>
                  <a:srgbClr val="FF0000"/>
                </a:solidFill>
              </a:rPr>
              <a:t>int</a:t>
            </a:r>
            <a:r>
              <a:rPr lang="en-CA" sz="3500" dirty="0">
                <a:solidFill>
                  <a:srgbClr val="FF0000"/>
                </a:solidFill>
              </a:rPr>
              <a:t>* y</a:t>
            </a:r>
            <a:r>
              <a:rPr lang="en-CA" sz="3500" dirty="0"/>
              <a:t>)</a:t>
            </a:r>
          </a:p>
          <a:p>
            <a:pPr marL="0" indent="0">
              <a:buNone/>
            </a:pPr>
            <a:r>
              <a:rPr lang="en-CA" sz="3500" dirty="0"/>
              <a:t>{</a:t>
            </a:r>
          </a:p>
          <a:p>
            <a:pPr marL="0" indent="0">
              <a:buNone/>
            </a:pPr>
            <a:r>
              <a:rPr lang="en-CA" sz="3500" dirty="0"/>
              <a:t>        </a:t>
            </a:r>
            <a:r>
              <a:rPr lang="en-CA" sz="3500" dirty="0" err="1"/>
              <a:t>int</a:t>
            </a:r>
            <a:r>
              <a:rPr lang="en-CA" sz="3500" dirty="0"/>
              <a:t> temp;</a:t>
            </a:r>
          </a:p>
          <a:p>
            <a:pPr marL="0" indent="0">
              <a:buNone/>
            </a:pPr>
            <a:r>
              <a:rPr lang="en-CA" sz="3500" dirty="0"/>
              <a:t>        temp = *x;</a:t>
            </a:r>
          </a:p>
          <a:p>
            <a:pPr marL="0" indent="0">
              <a:buNone/>
            </a:pPr>
            <a:r>
              <a:rPr lang="en-CA" sz="3500" dirty="0"/>
              <a:t>        *x = *y;</a:t>
            </a:r>
          </a:p>
          <a:p>
            <a:pPr marL="0" indent="0">
              <a:buNone/>
            </a:pPr>
            <a:r>
              <a:rPr lang="en-CA" sz="3500" dirty="0"/>
              <a:t>        *y = temp;</a:t>
            </a:r>
          </a:p>
          <a:p>
            <a:pPr marL="0" indent="0">
              <a:buNone/>
            </a:pPr>
            <a:r>
              <a:rPr lang="en-CA" sz="3500" dirty="0"/>
              <a:t>        return;</a:t>
            </a:r>
          </a:p>
          <a:p>
            <a:pPr marL="0" indent="0">
              <a:buNone/>
            </a:pPr>
            <a:r>
              <a:rPr lang="en-CA" sz="35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33456409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39815" y="182245"/>
            <a:ext cx="9710907" cy="830629"/>
          </a:xfrm>
        </p:spPr>
        <p:txBody>
          <a:bodyPr>
            <a:normAutofit/>
          </a:bodyPr>
          <a:lstStyle/>
          <a:p>
            <a:r>
              <a:rPr lang="en-CA" dirty="0">
                <a:solidFill>
                  <a:schemeClr val="bg1"/>
                </a:solidFill>
              </a:rPr>
              <a:t>New and Delete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5785" y="1317874"/>
            <a:ext cx="11491415" cy="5540126"/>
          </a:xfrm>
        </p:spPr>
        <p:txBody>
          <a:bodyPr>
            <a:normAutofit/>
          </a:bodyPr>
          <a:lstStyle/>
          <a:p>
            <a:r>
              <a:rPr lang="en-CA" dirty="0"/>
              <a:t>New and Delete can be used to create dynamic data.</a:t>
            </a:r>
          </a:p>
          <a:p>
            <a:r>
              <a:rPr lang="en-CA" dirty="0"/>
              <a:t>New allocates memory from the heap for the data type you specify.</a:t>
            </a:r>
          </a:p>
          <a:p>
            <a:r>
              <a:rPr lang="en-CA" dirty="0"/>
              <a:t>Can be used with primitive types and derived types.</a:t>
            </a:r>
          </a:p>
          <a:p>
            <a:r>
              <a:rPr lang="en-CA" dirty="0"/>
              <a:t>Every new needs a delete (or else memory leak)</a:t>
            </a:r>
          </a:p>
          <a:p>
            <a:pPr lvl="1"/>
            <a:r>
              <a:rPr lang="en-CA" dirty="0"/>
              <a:t>Smart pointers avoid this necessity. We are not using smart pointers</a:t>
            </a:r>
          </a:p>
          <a:p>
            <a:r>
              <a:rPr lang="en-CA" dirty="0" err="1">
                <a:solidFill>
                  <a:schemeClr val="accent5">
                    <a:lumMod val="75000"/>
                  </a:schemeClr>
                </a:solidFill>
              </a:rPr>
              <a:t>int</a:t>
            </a:r>
            <a:r>
              <a:rPr lang="en-CA" dirty="0">
                <a:solidFill>
                  <a:schemeClr val="accent5">
                    <a:lumMod val="75000"/>
                  </a:schemeClr>
                </a:solidFill>
              </a:rPr>
              <a:t> *p = new </a:t>
            </a:r>
            <a:r>
              <a:rPr lang="en-CA" dirty="0" err="1">
                <a:solidFill>
                  <a:schemeClr val="accent5">
                    <a:lumMod val="75000"/>
                  </a:schemeClr>
                </a:solidFill>
              </a:rPr>
              <a:t>int</a:t>
            </a:r>
            <a:r>
              <a:rPr lang="en-CA" dirty="0">
                <a:solidFill>
                  <a:schemeClr val="accent5">
                    <a:lumMod val="75000"/>
                  </a:schemeClr>
                </a:solidFill>
              </a:rPr>
              <a:t>;    </a:t>
            </a:r>
          </a:p>
          <a:p>
            <a:r>
              <a:rPr lang="en-CA" dirty="0" err="1">
                <a:solidFill>
                  <a:schemeClr val="accent5">
                    <a:lumMod val="75000"/>
                  </a:schemeClr>
                </a:solidFill>
              </a:rPr>
              <a:t>int</a:t>
            </a:r>
            <a:r>
              <a:rPr lang="en-CA" dirty="0">
                <a:solidFill>
                  <a:schemeClr val="accent5">
                    <a:lumMod val="75000"/>
                  </a:schemeClr>
                </a:solidFill>
              </a:rPr>
              <a:t>* </a:t>
            </a:r>
            <a:r>
              <a:rPr lang="en-CA" dirty="0" err="1">
                <a:solidFill>
                  <a:schemeClr val="accent5">
                    <a:lumMod val="75000"/>
                  </a:schemeClr>
                </a:solidFill>
              </a:rPr>
              <a:t>arrPtr</a:t>
            </a:r>
            <a:r>
              <a:rPr lang="en-CA" dirty="0">
                <a:solidFill>
                  <a:schemeClr val="accent5">
                    <a:lumMod val="75000"/>
                  </a:schemeClr>
                </a:solidFill>
              </a:rPr>
              <a:t> = new </a:t>
            </a:r>
            <a:r>
              <a:rPr lang="en-CA" dirty="0" err="1">
                <a:solidFill>
                  <a:schemeClr val="accent5">
                    <a:lumMod val="75000"/>
                  </a:schemeClr>
                </a:solidFill>
              </a:rPr>
              <a:t>int</a:t>
            </a:r>
            <a:r>
              <a:rPr lang="en-CA" dirty="0">
                <a:solidFill>
                  <a:schemeClr val="accent5">
                    <a:lumMod val="75000"/>
                  </a:schemeClr>
                </a:solidFill>
              </a:rPr>
              <a:t> [3];</a:t>
            </a:r>
          </a:p>
          <a:p>
            <a:r>
              <a:rPr lang="en-CA" dirty="0" err="1">
                <a:solidFill>
                  <a:schemeClr val="accent5">
                    <a:lumMod val="75000"/>
                  </a:schemeClr>
                </a:solidFill>
              </a:rPr>
              <a:t>MyFoo</a:t>
            </a:r>
            <a:r>
              <a:rPr lang="en-CA" dirty="0">
                <a:solidFill>
                  <a:schemeClr val="accent5">
                    <a:lumMod val="75000"/>
                  </a:schemeClr>
                </a:solidFill>
              </a:rPr>
              <a:t> *foo = new </a:t>
            </a:r>
            <a:r>
              <a:rPr lang="en-CA" dirty="0" err="1">
                <a:solidFill>
                  <a:schemeClr val="accent5">
                    <a:lumMod val="75000"/>
                  </a:schemeClr>
                </a:solidFill>
              </a:rPr>
              <a:t>MyFoo</a:t>
            </a:r>
            <a:r>
              <a:rPr lang="en-CA" dirty="0">
                <a:solidFill>
                  <a:schemeClr val="accent5">
                    <a:lumMod val="75000"/>
                  </a:schemeClr>
                </a:solidFill>
              </a:rPr>
              <a:t>();</a:t>
            </a:r>
          </a:p>
          <a:p>
            <a:r>
              <a:rPr lang="en-CA" dirty="0">
                <a:solidFill>
                  <a:schemeClr val="accent5">
                    <a:lumMod val="75000"/>
                  </a:schemeClr>
                </a:solidFill>
              </a:rPr>
              <a:t>delete p;      p = null;  - </a:t>
            </a:r>
            <a:r>
              <a:rPr lang="en-CA" sz="2400" dirty="0">
                <a:solidFill>
                  <a:schemeClr val="accent5">
                    <a:lumMod val="75000"/>
                  </a:schemeClr>
                </a:solidFill>
              </a:rPr>
              <a:t>this is a good idea in case you use it again by accident</a:t>
            </a:r>
            <a:endParaRPr lang="en-CA" dirty="0">
              <a:solidFill>
                <a:schemeClr val="accent5">
                  <a:lumMod val="75000"/>
                </a:schemeClr>
              </a:solidFill>
            </a:endParaRPr>
          </a:p>
          <a:p>
            <a:r>
              <a:rPr lang="en-CA" dirty="0">
                <a:solidFill>
                  <a:schemeClr val="accent5">
                    <a:lumMod val="75000"/>
                  </a:schemeClr>
                </a:solidFill>
              </a:rPr>
              <a:t>delete [] </a:t>
            </a:r>
            <a:r>
              <a:rPr lang="en-CA" dirty="0" err="1">
                <a:solidFill>
                  <a:schemeClr val="accent5">
                    <a:lumMod val="75000"/>
                  </a:schemeClr>
                </a:solidFill>
              </a:rPr>
              <a:t>arrPtr</a:t>
            </a:r>
            <a:r>
              <a:rPr lang="en-CA" dirty="0">
                <a:solidFill>
                  <a:schemeClr val="accent5">
                    <a:lumMod val="75000"/>
                  </a:schemeClr>
                </a:solidFill>
              </a:rPr>
              <a:t>;    </a:t>
            </a:r>
            <a:r>
              <a:rPr lang="en-CA" dirty="0" err="1">
                <a:solidFill>
                  <a:schemeClr val="accent5">
                    <a:lumMod val="75000"/>
                  </a:schemeClr>
                </a:solidFill>
              </a:rPr>
              <a:t>arrPtr</a:t>
            </a:r>
            <a:r>
              <a:rPr lang="en-CA" dirty="0">
                <a:solidFill>
                  <a:schemeClr val="accent5">
                    <a:lumMod val="75000"/>
                  </a:schemeClr>
                </a:solidFill>
              </a:rPr>
              <a:t> = null;</a:t>
            </a:r>
          </a:p>
          <a:p>
            <a:r>
              <a:rPr lang="en-CA" dirty="0">
                <a:solidFill>
                  <a:schemeClr val="accent5">
                    <a:lumMod val="75000"/>
                  </a:schemeClr>
                </a:solidFill>
              </a:rPr>
              <a:t>delete foo;     foo = null;</a:t>
            </a:r>
          </a:p>
        </p:txBody>
      </p:sp>
    </p:spTree>
    <p:extLst>
      <p:ext uri="{BB962C8B-B14F-4D97-AF65-F5344CB8AC3E}">
        <p14:creationId xmlns:p14="http://schemas.microsoft.com/office/powerpoint/2010/main" val="40127442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39815" y="182245"/>
            <a:ext cx="9710907" cy="830629"/>
          </a:xfrm>
        </p:spPr>
        <p:txBody>
          <a:bodyPr>
            <a:normAutofit/>
          </a:bodyPr>
          <a:lstStyle/>
          <a:p>
            <a:r>
              <a:rPr lang="en-CA" dirty="0">
                <a:solidFill>
                  <a:schemeClr val="bg1"/>
                </a:solidFill>
              </a:rPr>
              <a:t>Wild Pointers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We need to be careful when we use pointers, because if we are not, a pointer could take on a memory address that is outside the bounds of our program space </a:t>
            </a:r>
          </a:p>
          <a:p>
            <a:r>
              <a:rPr lang="en-CA" dirty="0"/>
              <a:t>Or we can lose the only handle to our data.</a:t>
            </a:r>
          </a:p>
          <a:p>
            <a:pPr marL="0" indent="0">
              <a:buNone/>
            </a:pPr>
            <a:r>
              <a:rPr lang="en-CA" dirty="0" err="1">
                <a:solidFill>
                  <a:schemeClr val="accent5">
                    <a:lumMod val="75000"/>
                  </a:schemeClr>
                </a:solidFill>
              </a:rPr>
              <a:t>int</a:t>
            </a:r>
            <a:r>
              <a:rPr lang="en-CA" dirty="0">
                <a:solidFill>
                  <a:schemeClr val="accent5">
                    <a:lumMod val="75000"/>
                  </a:schemeClr>
                </a:solidFill>
              </a:rPr>
              <a:t>* </a:t>
            </a:r>
            <a:r>
              <a:rPr lang="en-CA" dirty="0" err="1">
                <a:solidFill>
                  <a:schemeClr val="accent5">
                    <a:lumMod val="75000"/>
                  </a:schemeClr>
                </a:solidFill>
              </a:rPr>
              <a:t>arrPtr</a:t>
            </a:r>
            <a:r>
              <a:rPr lang="en-CA" dirty="0">
                <a:solidFill>
                  <a:schemeClr val="accent5">
                    <a:lumMod val="75000"/>
                  </a:schemeClr>
                </a:solidFill>
              </a:rPr>
              <a:t> = new </a:t>
            </a:r>
            <a:r>
              <a:rPr lang="en-CA" dirty="0" err="1">
                <a:solidFill>
                  <a:schemeClr val="accent5">
                    <a:lumMod val="75000"/>
                  </a:schemeClr>
                </a:solidFill>
              </a:rPr>
              <a:t>int</a:t>
            </a:r>
            <a:r>
              <a:rPr lang="en-CA" dirty="0">
                <a:solidFill>
                  <a:schemeClr val="accent5">
                    <a:lumMod val="75000"/>
                  </a:schemeClr>
                </a:solidFill>
              </a:rPr>
              <a:t> [3];</a:t>
            </a:r>
          </a:p>
          <a:p>
            <a:pPr marL="0" indent="0">
              <a:buNone/>
            </a:pPr>
            <a:r>
              <a:rPr lang="en-CA" dirty="0" err="1">
                <a:solidFill>
                  <a:schemeClr val="accent5">
                    <a:lumMod val="75000"/>
                  </a:schemeClr>
                </a:solidFill>
              </a:rPr>
              <a:t>int</a:t>
            </a:r>
            <a:r>
              <a:rPr lang="en-CA" dirty="0">
                <a:solidFill>
                  <a:schemeClr val="accent5">
                    <a:lumMod val="75000"/>
                  </a:schemeClr>
                </a:solidFill>
              </a:rPr>
              <a:t>* </a:t>
            </a:r>
            <a:r>
              <a:rPr lang="en-CA" dirty="0" err="1">
                <a:solidFill>
                  <a:schemeClr val="accent5">
                    <a:lumMod val="75000"/>
                  </a:schemeClr>
                </a:solidFill>
              </a:rPr>
              <a:t>diffPtr</a:t>
            </a:r>
            <a:r>
              <a:rPr lang="en-CA" dirty="0">
                <a:solidFill>
                  <a:schemeClr val="accent5">
                    <a:lumMod val="75000"/>
                  </a:schemeClr>
                </a:solidFill>
              </a:rPr>
              <a:t> = new </a:t>
            </a:r>
            <a:r>
              <a:rPr lang="en-CA" dirty="0" err="1">
                <a:solidFill>
                  <a:schemeClr val="accent5">
                    <a:lumMod val="75000"/>
                  </a:schemeClr>
                </a:solidFill>
              </a:rPr>
              <a:t>int</a:t>
            </a:r>
            <a:r>
              <a:rPr lang="en-CA" dirty="0">
                <a:solidFill>
                  <a:schemeClr val="accent5">
                    <a:lumMod val="75000"/>
                  </a:schemeClr>
                </a:solidFill>
              </a:rPr>
              <a:t> [5];</a:t>
            </a:r>
          </a:p>
          <a:p>
            <a:pPr marL="0" indent="0">
              <a:buNone/>
            </a:pPr>
            <a:r>
              <a:rPr lang="en-CA" dirty="0" err="1">
                <a:solidFill>
                  <a:schemeClr val="accent5">
                    <a:lumMod val="75000"/>
                  </a:schemeClr>
                </a:solidFill>
              </a:rPr>
              <a:t>arrPtr</a:t>
            </a:r>
            <a:r>
              <a:rPr lang="en-CA" dirty="0">
                <a:solidFill>
                  <a:schemeClr val="accent5">
                    <a:lumMod val="75000"/>
                  </a:schemeClr>
                </a:solidFill>
              </a:rPr>
              <a:t> = </a:t>
            </a:r>
            <a:r>
              <a:rPr lang="en-CA" dirty="0" err="1">
                <a:solidFill>
                  <a:schemeClr val="accent5">
                    <a:lumMod val="75000"/>
                  </a:schemeClr>
                </a:solidFill>
              </a:rPr>
              <a:t>diffPtr</a:t>
            </a:r>
            <a:r>
              <a:rPr lang="en-CA" dirty="0">
                <a:solidFill>
                  <a:schemeClr val="accent5">
                    <a:lumMod val="75000"/>
                  </a:schemeClr>
                </a:solidFill>
              </a:rPr>
              <a:t>;</a:t>
            </a:r>
          </a:p>
          <a:p>
            <a:r>
              <a:rPr lang="en-CA" dirty="0" err="1">
                <a:solidFill>
                  <a:schemeClr val="accent5">
                    <a:lumMod val="75000"/>
                  </a:schemeClr>
                </a:solidFill>
              </a:rPr>
              <a:t>arrPtr</a:t>
            </a:r>
            <a:r>
              <a:rPr lang="en-CA" dirty="0">
                <a:solidFill>
                  <a:schemeClr val="accent5">
                    <a:lumMod val="75000"/>
                  </a:schemeClr>
                </a:solidFill>
              </a:rPr>
              <a:t> no longer points to the 3 element array.</a:t>
            </a:r>
          </a:p>
          <a:p>
            <a:r>
              <a:rPr lang="en-CA" dirty="0">
                <a:solidFill>
                  <a:schemeClr val="accent5">
                    <a:lumMod val="75000"/>
                  </a:schemeClr>
                </a:solidFill>
              </a:rPr>
              <a:t>We cannot retrieve that array now.</a:t>
            </a:r>
          </a:p>
          <a:p>
            <a:pPr marL="0" indent="0">
              <a:buNone/>
            </a:pP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4674286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5203</TotalTime>
  <Words>1685</Words>
  <Application>Microsoft Office PowerPoint</Application>
  <PresentationFormat>Widescreen</PresentationFormat>
  <Paragraphs>188</Paragraphs>
  <Slides>16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Calibri Light</vt:lpstr>
      <vt:lpstr>Office Theme</vt:lpstr>
      <vt:lpstr>C++ Pointer Review</vt:lpstr>
      <vt:lpstr>C++ Pointer Review</vt:lpstr>
      <vt:lpstr>Pointer Variables</vt:lpstr>
      <vt:lpstr>PowerPoint Presentation</vt:lpstr>
      <vt:lpstr>Pointer Operators</vt:lpstr>
      <vt:lpstr>Pointer Operators</vt:lpstr>
      <vt:lpstr>Pointer Arithmetic</vt:lpstr>
      <vt:lpstr>Pointer Comparisons</vt:lpstr>
      <vt:lpstr>Arrays and pointers</vt:lpstr>
      <vt:lpstr>Arrays of Pointers</vt:lpstr>
      <vt:lpstr>Pointer Excercises</vt:lpstr>
      <vt:lpstr>Pointer Excercises</vt:lpstr>
      <vt:lpstr>Using Pointers to Pass Parameters by Reference</vt:lpstr>
      <vt:lpstr>Example of passing by reference</vt:lpstr>
      <vt:lpstr>New and Delete</vt:lpstr>
      <vt:lpstr>Wild Pointers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Sharrie Wing</dc:creator>
  <cp:lastModifiedBy>Feeney, Michael</cp:lastModifiedBy>
  <cp:revision>139</cp:revision>
  <dcterms:created xsi:type="dcterms:W3CDTF">2018-09-03T16:13:27Z</dcterms:created>
  <dcterms:modified xsi:type="dcterms:W3CDTF">2026-09-10T15:12:28Z</dcterms:modified>
</cp:coreProperties>
</file>