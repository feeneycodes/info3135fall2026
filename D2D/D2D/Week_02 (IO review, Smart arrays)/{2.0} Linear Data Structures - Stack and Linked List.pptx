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4"/>
  </p:notesMasterIdLst>
  <p:sldIdLst>
    <p:sldId id="285" r:id="rId3"/>
    <p:sldId id="409" r:id="rId4"/>
    <p:sldId id="410" r:id="rId5"/>
    <p:sldId id="411" r:id="rId6"/>
    <p:sldId id="412" r:id="rId7"/>
    <p:sldId id="305" r:id="rId8"/>
    <p:sldId id="306" r:id="rId9"/>
    <p:sldId id="396" r:id="rId10"/>
    <p:sldId id="397" r:id="rId11"/>
    <p:sldId id="398" r:id="rId12"/>
    <p:sldId id="399" r:id="rId13"/>
    <p:sldId id="289" r:id="rId14"/>
    <p:sldId id="401" r:id="rId15"/>
    <p:sldId id="400" r:id="rId16"/>
    <p:sldId id="287" r:id="rId17"/>
    <p:sldId id="290" r:id="rId18"/>
    <p:sldId id="292" r:id="rId19"/>
    <p:sldId id="286" r:id="rId20"/>
    <p:sldId id="296" r:id="rId21"/>
    <p:sldId id="293" r:id="rId22"/>
    <p:sldId id="302" r:id="rId23"/>
    <p:sldId id="257" r:id="rId24"/>
    <p:sldId id="258" r:id="rId25"/>
    <p:sldId id="299" r:id="rId26"/>
    <p:sldId id="298" r:id="rId27"/>
    <p:sldId id="300" r:id="rId28"/>
    <p:sldId id="402" r:id="rId29"/>
    <p:sldId id="261" r:id="rId30"/>
    <p:sldId id="265" r:id="rId31"/>
    <p:sldId id="301" r:id="rId32"/>
    <p:sldId id="263" r:id="rId33"/>
    <p:sldId id="264" r:id="rId34"/>
    <p:sldId id="295" r:id="rId35"/>
    <p:sldId id="266" r:id="rId36"/>
    <p:sldId id="267" r:id="rId37"/>
    <p:sldId id="268" r:id="rId38"/>
    <p:sldId id="407" r:id="rId39"/>
    <p:sldId id="408" r:id="rId40"/>
    <p:sldId id="270" r:id="rId41"/>
    <p:sldId id="273" r:id="rId42"/>
    <p:sldId id="405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-748" y="-2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9278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76634A-59EC-4843-8524-10665C8EDF2B}" type="datetimeFigureOut">
              <a:rPr lang="en-CA" smtClean="0"/>
              <a:pPr/>
              <a:t>2026-09-16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CB7770-0A41-4381-AD9A-2A1B7614D0AC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544069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EE220A4-1DDE-B2C6-5F0D-582D46C38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765EB364-4E79-9F4A-F3E6-AA1D35E36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289EC0D5-0F87-9665-26AF-77AC13DAD3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https://www.geeksforgeeks.org/the-c-standard-template-library-stl/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3E449E8-1344-56B9-E9EB-68A9832481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00E13E-EEFC-4DCB-A80D-CAE9B6D46C01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57150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EE220A4-1DDE-B2C6-5F0D-582D46C38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765EB364-4E79-9F4A-F3E6-AA1D35E36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289EC0D5-0F87-9665-26AF-77AC13DAD3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https://www.geeksforgeeks.org/the-c-standard-template-library-stl/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3E449E8-1344-56B9-E9EB-68A9832481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00E13E-EEFC-4DCB-A80D-CAE9B6D46C01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16519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EE220A4-1DDE-B2C6-5F0D-582D46C38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765EB364-4E79-9F4A-F3E6-AA1D35E36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289EC0D5-0F87-9665-26AF-77AC13DAD3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https://www.geeksforgeeks.org/the-c-standard-template-library-stl/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3E449E8-1344-56B9-E9EB-68A9832481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00E13E-EEFC-4DCB-A80D-CAE9B6D46C01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409417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EE220A4-1DDE-B2C6-5F0D-582D46C38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765EB364-4E79-9F4A-F3E6-AA1D35E36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289EC0D5-0F87-9665-26AF-77AC13DAD3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https://www.geeksforgeeks.org/the-c-standard-template-library-stl/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3E449E8-1344-56B9-E9EB-68A9832481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00E13E-EEFC-4DCB-A80D-CAE9B6D46C01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091881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EE220A4-1DDE-B2C6-5F0D-582D46C38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765EB364-4E79-9F4A-F3E6-AA1D35E36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289EC0D5-0F87-9665-26AF-77AC13DAD3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https://www.geeksforgeeks.org/the-c-standard-template-library-stl/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3E449E8-1344-56B9-E9EB-68A9832481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00E13E-EEFC-4DCB-A80D-CAE9B6D46C01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153453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https://www.geeksforgeeks.org/the-c-standard-template-library-stl/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00E13E-EEFC-4DCB-A80D-CAE9B6D46C01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980965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834F214-4712-869D-7609-7853259D0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977A7B96-3DC4-CA0E-0888-7FC9D4C29E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3E1C687E-CF51-ACAB-2ED7-89A5D5E6C9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https://www.geeksforgeeks.org/the-c-standard-template-library-stl/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49B1C61-98F2-7950-A940-9528C1C85F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00E13E-EEFC-4DCB-A80D-CAE9B6D46C01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327380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00E13E-EEFC-4DCB-A80D-CAE9B6D46C01}" type="slidenum">
              <a:rPr lang="en-CA" smtClean="0"/>
              <a:pPr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1404181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24CECFD-E325-0A35-6326-D06F36507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1A043133-379A-1E7F-A8FB-0EFADB78F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9E2B6550-8858-9C21-09B1-067ECB0A2B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50A1521-240B-3B69-C2B5-915F5694CC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00E13E-EEFC-4DCB-A80D-CAE9B6D46C01}" type="slidenum">
              <a:rPr lang="en-CA" smtClean="0"/>
              <a:pPr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38357126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dirty="0"/>
              <a:t>Moving from one node to another by following a next reference is known as link hopping or pointer hopping. 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B7770-0A41-4381-AD9A-2A1B7614D0AC}" type="slidenum">
              <a:rPr lang="en-CA" smtClean="0"/>
              <a:pPr/>
              <a:t>35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512489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8252-26A2-422C-8021-53F2FA7F3083}" type="datetimeFigureOut">
              <a:rPr lang="en-CA" smtClean="0"/>
              <a:pPr/>
              <a:t>2026-09-16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DDE3-37DC-4FC1-86DE-98D0EA336BFE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2077059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8252-26A2-422C-8021-53F2FA7F3083}" type="datetimeFigureOut">
              <a:rPr lang="en-CA" smtClean="0"/>
              <a:pPr/>
              <a:t>2026-09-16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DDE3-37DC-4FC1-86DE-98D0EA336BFE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2963017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8252-26A2-422C-8021-53F2FA7F3083}" type="datetimeFigureOut">
              <a:rPr lang="en-CA" smtClean="0"/>
              <a:pPr/>
              <a:t>2026-09-16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DDE3-37DC-4FC1-86DE-98D0EA336BFE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1255086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8252-26A2-422C-8021-53F2FA7F3083}" type="datetimeFigureOut">
              <a:rPr lang="en-CA" smtClean="0"/>
              <a:pPr/>
              <a:t>2026-09-16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DDE3-37DC-4FC1-86DE-98D0EA336BFE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3034710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8252-26A2-422C-8021-53F2FA7F3083}" type="datetimeFigureOut">
              <a:rPr lang="en-CA" smtClean="0"/>
              <a:pPr/>
              <a:t>2026-09-16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DDE3-37DC-4FC1-86DE-98D0EA336BFE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3894773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8252-26A2-422C-8021-53F2FA7F3083}" type="datetimeFigureOut">
              <a:rPr lang="en-CA" smtClean="0"/>
              <a:pPr/>
              <a:t>2026-09-16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DDE3-37DC-4FC1-86DE-98D0EA336BFE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1678366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8252-26A2-422C-8021-53F2FA7F3083}" type="datetimeFigureOut">
              <a:rPr lang="en-CA" smtClean="0"/>
              <a:pPr/>
              <a:t>2026-09-16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DDE3-37DC-4FC1-86DE-98D0EA336BFE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4280413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8252-26A2-422C-8021-53F2FA7F3083}" type="datetimeFigureOut">
              <a:rPr lang="en-CA" smtClean="0"/>
              <a:pPr/>
              <a:t>2026-09-16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DDE3-37DC-4FC1-86DE-98D0EA336BFE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3439465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8252-26A2-422C-8021-53F2FA7F3083}" type="datetimeFigureOut">
              <a:rPr lang="en-CA" smtClean="0"/>
              <a:pPr/>
              <a:t>2026-09-16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DDE3-37DC-4FC1-86DE-98D0EA336BFE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1493598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8252-26A2-422C-8021-53F2FA7F3083}" type="datetimeFigureOut">
              <a:rPr lang="en-CA" smtClean="0"/>
              <a:pPr/>
              <a:t>2026-09-16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DDE3-37DC-4FC1-86DE-98D0EA336BFE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4179238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8252-26A2-422C-8021-53F2FA7F3083}" type="datetimeFigureOut">
              <a:rPr lang="en-CA" smtClean="0"/>
              <a:pPr/>
              <a:t>2026-09-16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DDE3-37DC-4FC1-86DE-98D0EA336BFE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36970558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CBC4-B18E-4CE9-AE45-0D26726D84DA}" type="datetimeFigureOut">
              <a:rPr lang="en-CA" smtClean="0"/>
              <a:pPr/>
              <a:t>2026-09-16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1CC58-AFDE-4BAD-9CA7-D8FC8637A631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32214615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CBC4-B18E-4CE9-AE45-0D26726D84DA}" type="datetimeFigureOut">
              <a:rPr lang="en-CA" smtClean="0"/>
              <a:pPr/>
              <a:t>2026-09-16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1CC58-AFDE-4BAD-9CA7-D8FC8637A631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13820869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CBC4-B18E-4CE9-AE45-0D26726D84DA}" type="datetimeFigureOut">
              <a:rPr lang="en-CA" smtClean="0"/>
              <a:pPr/>
              <a:t>2026-09-16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1CC58-AFDE-4BAD-9CA7-D8FC8637A631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14570505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CBC4-B18E-4CE9-AE45-0D26726D84DA}" type="datetimeFigureOut">
              <a:rPr lang="en-CA" smtClean="0"/>
              <a:pPr/>
              <a:t>2026-09-16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1CC58-AFDE-4BAD-9CA7-D8FC8637A631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4772233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CBC4-B18E-4CE9-AE45-0D26726D84DA}" type="datetimeFigureOut">
              <a:rPr lang="en-CA" smtClean="0"/>
              <a:pPr/>
              <a:t>2026-09-16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1CC58-AFDE-4BAD-9CA7-D8FC8637A631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37960227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CBC4-B18E-4CE9-AE45-0D26726D84DA}" type="datetimeFigureOut">
              <a:rPr lang="en-CA" smtClean="0"/>
              <a:pPr/>
              <a:t>2026-09-16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1CC58-AFDE-4BAD-9CA7-D8FC8637A631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40934416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CBC4-B18E-4CE9-AE45-0D26726D84DA}" type="datetimeFigureOut">
              <a:rPr lang="en-CA" smtClean="0"/>
              <a:pPr/>
              <a:t>2026-09-16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1CC58-AFDE-4BAD-9CA7-D8FC8637A631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21324831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CBC4-B18E-4CE9-AE45-0D26726D84DA}" type="datetimeFigureOut">
              <a:rPr lang="en-CA" smtClean="0"/>
              <a:pPr/>
              <a:t>2026-09-16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1CC58-AFDE-4BAD-9CA7-D8FC8637A631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18892370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CBC4-B18E-4CE9-AE45-0D26726D84DA}" type="datetimeFigureOut">
              <a:rPr lang="en-CA" smtClean="0"/>
              <a:pPr/>
              <a:t>2026-09-16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1CC58-AFDE-4BAD-9CA7-D8FC8637A631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13226701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CBC4-B18E-4CE9-AE45-0D26726D84DA}" type="datetimeFigureOut">
              <a:rPr lang="en-CA" smtClean="0"/>
              <a:pPr/>
              <a:t>2026-09-16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1CC58-AFDE-4BAD-9CA7-D8FC8637A631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29132683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CBC4-B18E-4CE9-AE45-0D26726D84DA}" type="datetimeFigureOut">
              <a:rPr lang="en-CA" smtClean="0"/>
              <a:pPr/>
              <a:t>2026-09-16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1CC58-AFDE-4BAD-9CA7-D8FC8637A631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467578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313985" cy="8306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08943"/>
            <a:ext cx="10515600" cy="4554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4A8252-26A2-422C-8021-53F2FA7F3083}" type="datetimeFigureOut">
              <a:rPr lang="en-CA" smtClean="0"/>
              <a:pPr/>
              <a:t>2026-09-16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D8DDE3-37DC-4FC1-86DE-98D0EA336BFE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1771977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313985" cy="8306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08943"/>
            <a:ext cx="10515600" cy="4554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BCBC4-B18E-4CE9-AE45-0D26726D84DA}" type="datetimeFigureOut">
              <a:rPr lang="en-CA" smtClean="0"/>
              <a:pPr/>
              <a:t>2026-09-16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C1CC58-AFDE-4BAD-9CA7-D8FC8637A631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586777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hyperlink" Target="http://en.cppreference.com/w/cpp/header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en.cppreference.com/w/cpp/container/vector.html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cplusplus.com/reference/vector/vector/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D7F21A-B12B-DECE-6C5D-766EB9890E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003" y="1654655"/>
            <a:ext cx="12305489" cy="1400215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Data Structures and Algorithms</a:t>
            </a:r>
            <a:r>
              <a:rPr lang="en-GB" dirty="0"/>
              <a:t/>
            </a:r>
            <a:br>
              <a:rPr lang="en-GB" dirty="0"/>
            </a:br>
            <a:r>
              <a:rPr lang="en-GB" sz="4800" dirty="0"/>
              <a:t>INFO-3135</a:t>
            </a:r>
            <a:endParaRPr lang="en-CA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FEF66789-A2EA-5320-AC01-CA44DD47CF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7711" y="4590381"/>
            <a:ext cx="9144000" cy="1587782"/>
          </a:xfrm>
        </p:spPr>
        <p:txBody>
          <a:bodyPr>
            <a:noAutofit/>
          </a:bodyPr>
          <a:lstStyle/>
          <a:p>
            <a:pPr algn="r"/>
            <a:r>
              <a:rPr lang="en-GB" sz="6000" dirty="0"/>
              <a:t>Linear Data Structures</a:t>
            </a:r>
          </a:p>
          <a:p>
            <a:pPr algn="r"/>
            <a:r>
              <a:rPr lang="en-GB" sz="4000" dirty="0"/>
              <a:t>Stack and Linked List</a:t>
            </a:r>
          </a:p>
        </p:txBody>
      </p:sp>
    </p:spTree>
    <p:extLst>
      <p:ext uri="{BB962C8B-B14F-4D97-AF65-F5344CB8AC3E}">
        <p14:creationId xmlns:p14="http://schemas.microsoft.com/office/powerpoint/2010/main" xmlns="" val="1774883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9D68D66-6D95-2832-6DA8-B9377E463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B8EFEFE-63D1-C9AC-8756-90A35CD3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Dynamic array allocation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967299E-12C0-729A-F5ED-13729197F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6491"/>
            <a:ext cx="10515600" cy="4676489"/>
          </a:xfrm>
        </p:spPr>
        <p:txBody>
          <a:bodyPr>
            <a:normAutofit/>
          </a:bodyPr>
          <a:lstStyle/>
          <a:p>
            <a:r>
              <a:rPr lang="en-CA" sz="3600" dirty="0">
                <a:latin typeface="urw-din"/>
              </a:rPr>
              <a:t>i</a:t>
            </a:r>
            <a:r>
              <a:rPr lang="en-CA" sz="3600" b="0" i="0" dirty="0">
                <a:effectLst/>
                <a:latin typeface="urw-din"/>
              </a:rPr>
              <a:t>nt </a:t>
            </a:r>
            <a:r>
              <a:rPr lang="en-CA" sz="3600" b="0" i="0" dirty="0" err="1">
                <a:effectLst/>
                <a:latin typeface="urw-din"/>
              </a:rPr>
              <a:t>myArray</a:t>
            </a:r>
            <a:r>
              <a:rPr lang="en-CA" sz="3600" b="0" i="0" dirty="0">
                <a:effectLst/>
                <a:latin typeface="urw-din"/>
              </a:rPr>
              <a:t>[3] = { 1, 2, 3 }; </a:t>
            </a:r>
          </a:p>
          <a:p>
            <a:pPr lvl="1"/>
            <a:r>
              <a:rPr lang="en-CA" sz="2800" dirty="0">
                <a:latin typeface="urw-din"/>
              </a:rPr>
              <a:t>Done at COMPILE tile (knows size, etc.)</a:t>
            </a:r>
          </a:p>
          <a:p>
            <a:pPr lvl="1"/>
            <a:r>
              <a:rPr lang="en-CA" sz="2800" dirty="0">
                <a:latin typeface="urw-din"/>
              </a:rPr>
              <a:t>On the STACK</a:t>
            </a:r>
          </a:p>
          <a:p>
            <a:pPr lvl="1"/>
            <a:r>
              <a:rPr lang="en-CA" sz="2800" b="0" i="0" dirty="0">
                <a:effectLst/>
                <a:latin typeface="urw-din"/>
              </a:rPr>
              <a:t>Can’t resize it</a:t>
            </a:r>
          </a:p>
          <a:p>
            <a:pPr lvl="1"/>
            <a:r>
              <a:rPr lang="en-CA" sz="2800" dirty="0">
                <a:latin typeface="urw-din"/>
              </a:rPr>
              <a:t>Limited in size (</a:t>
            </a:r>
            <a:r>
              <a:rPr lang="en-CA" sz="2800" dirty="0" err="1">
                <a:latin typeface="urw-din"/>
              </a:rPr>
              <a:t>‘cause</a:t>
            </a:r>
            <a:r>
              <a:rPr lang="en-CA" sz="2800" dirty="0">
                <a:latin typeface="urw-din"/>
              </a:rPr>
              <a:t> of the stack size)</a:t>
            </a:r>
          </a:p>
          <a:p>
            <a:pPr lvl="1"/>
            <a:r>
              <a:rPr lang="en-CA" sz="2800" b="0" i="0" dirty="0">
                <a:effectLst/>
                <a:latin typeface="urw-din"/>
              </a:rPr>
              <a:t>Disappears when it goes out of scope (i.e. we hit the “}”)</a:t>
            </a:r>
            <a:endParaRPr lang="en-GB" sz="3600" b="0" i="0" dirty="0">
              <a:effectLst/>
              <a:latin typeface="urw-din"/>
            </a:endParaRPr>
          </a:p>
          <a:p>
            <a:pPr marL="0" indent="0">
              <a:buNone/>
            </a:pPr>
            <a:endParaRPr lang="en-US" sz="3000" dirty="0">
              <a:latin typeface="urw-din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61287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9D68D66-6D95-2832-6DA8-B9377E463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B8EFEFE-63D1-C9AC-8756-90A35CD3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Dynamic array allocation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967299E-12C0-729A-F5ED-13729197F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6491"/>
            <a:ext cx="10515600" cy="4676489"/>
          </a:xfrm>
        </p:spPr>
        <p:txBody>
          <a:bodyPr>
            <a:normAutofit/>
          </a:bodyPr>
          <a:lstStyle/>
          <a:p>
            <a:r>
              <a:rPr lang="en-CA" sz="3200" i="1" dirty="0">
                <a:latin typeface="urw-din"/>
              </a:rPr>
              <a:t>i</a:t>
            </a:r>
            <a:r>
              <a:rPr lang="en-CA" sz="3200" b="0" i="1" dirty="0">
                <a:effectLst/>
                <a:latin typeface="urw-din"/>
              </a:rPr>
              <a:t>nt </a:t>
            </a:r>
            <a:r>
              <a:rPr lang="en-CA" sz="3200" b="0" i="1" dirty="0" err="1">
                <a:effectLst/>
                <a:latin typeface="urw-din"/>
              </a:rPr>
              <a:t>myArray</a:t>
            </a:r>
            <a:r>
              <a:rPr lang="en-CA" sz="3200" b="0" i="1" dirty="0">
                <a:effectLst/>
                <a:latin typeface="urw-din"/>
              </a:rPr>
              <a:t>[3] = { 1, 2, 3 }; 	// STACK based, compile</a:t>
            </a:r>
          </a:p>
          <a:p>
            <a:r>
              <a:rPr lang="en-CA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int* </a:t>
            </a:r>
            <a:r>
              <a:rPr lang="en-CA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pMyArray</a:t>
            </a:r>
            <a:r>
              <a:rPr lang="en-CA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new int[10’000];</a:t>
            </a:r>
          </a:p>
          <a:p>
            <a:pPr lvl="1"/>
            <a:r>
              <a:rPr lang="en-CA" sz="2800" b="0" i="0" dirty="0">
                <a:effectLst/>
                <a:latin typeface="urw-din"/>
              </a:rPr>
              <a:t>Not initialized</a:t>
            </a:r>
          </a:p>
          <a:p>
            <a:pPr lvl="1"/>
            <a:r>
              <a:rPr lang="en-CA" sz="2800" dirty="0">
                <a:latin typeface="urw-din"/>
              </a:rPr>
              <a:t>It on the HEAP (that is V. important)</a:t>
            </a:r>
            <a:endParaRPr lang="en-CA" sz="2800" b="0" i="0" dirty="0">
              <a:effectLst/>
              <a:latin typeface="urw-din"/>
            </a:endParaRPr>
          </a:p>
          <a:p>
            <a:pPr lvl="1"/>
            <a:r>
              <a:rPr lang="en-CA" dirty="0">
                <a:latin typeface="urw-din"/>
              </a:rPr>
              <a:t>Allocated (done) at run-time (not compile time)</a:t>
            </a:r>
          </a:p>
          <a:p>
            <a:pPr lvl="1"/>
            <a:r>
              <a:rPr lang="en-CA" dirty="0">
                <a:latin typeface="urw-din"/>
              </a:rPr>
              <a:t>No real limit the HEAP size</a:t>
            </a:r>
          </a:p>
          <a:p>
            <a:pPr lvl="1"/>
            <a:r>
              <a:rPr lang="en-CA" dirty="0">
                <a:latin typeface="urw-din"/>
              </a:rPr>
              <a:t>“never” goes out of scope:</a:t>
            </a:r>
          </a:p>
          <a:p>
            <a:pPr lvl="2"/>
            <a:r>
              <a:rPr lang="en-CA" dirty="0" err="1">
                <a:latin typeface="urw-din"/>
              </a:rPr>
              <a:t>pMyArray</a:t>
            </a:r>
            <a:r>
              <a:rPr lang="en-CA" dirty="0">
                <a:latin typeface="urw-din"/>
              </a:rPr>
              <a:t> WILL go out of scope</a:t>
            </a:r>
          </a:p>
          <a:p>
            <a:pPr lvl="2"/>
            <a:r>
              <a:rPr lang="en-CA" dirty="0">
                <a:latin typeface="urw-din"/>
              </a:rPr>
              <a:t>Data it points do never does</a:t>
            </a:r>
          </a:p>
          <a:p>
            <a:pPr lvl="1"/>
            <a:r>
              <a:rPr lang="en-CA" dirty="0">
                <a:latin typeface="urw-din"/>
              </a:rPr>
              <a:t>Disappears when we call delete</a:t>
            </a:r>
          </a:p>
          <a:p>
            <a:pPr lvl="1"/>
            <a:endParaRPr lang="en-GB" sz="3200" b="0" i="0" dirty="0">
              <a:effectLst/>
              <a:latin typeface="urw-din"/>
            </a:endParaRPr>
          </a:p>
          <a:p>
            <a:pPr marL="0" indent="0">
              <a:buNone/>
            </a:pPr>
            <a:endParaRPr lang="en-US" dirty="0">
              <a:latin typeface="urw-din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36464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9D68D66-6D95-2832-6DA8-B9377E463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B8EFEFE-63D1-C9AC-8756-90A35CD3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Dynamic array allocation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967299E-12C0-729A-F5ED-13729197F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4169"/>
            <a:ext cx="10515600" cy="4758812"/>
          </a:xfrm>
        </p:spPr>
        <p:txBody>
          <a:bodyPr>
            <a:normAutofit/>
          </a:bodyPr>
          <a:lstStyle/>
          <a:p>
            <a:r>
              <a:rPr lang="en-CA" sz="3600" i="1" dirty="0">
                <a:latin typeface="urw-din"/>
              </a:rPr>
              <a:t>int* </a:t>
            </a:r>
            <a:r>
              <a:rPr lang="en-CA" sz="3600" i="1" dirty="0" err="1">
                <a:latin typeface="urw-din"/>
              </a:rPr>
              <a:t>pX</a:t>
            </a:r>
            <a:r>
              <a:rPr lang="en-CA" sz="3600" i="1" dirty="0">
                <a:latin typeface="urw-din"/>
              </a:rPr>
              <a:t> = new int();</a:t>
            </a:r>
          </a:p>
          <a:p>
            <a:r>
              <a:rPr lang="en-CA" sz="3600" i="1" dirty="0">
                <a:latin typeface="urw-din"/>
              </a:rPr>
              <a:t>delete </a:t>
            </a:r>
            <a:r>
              <a:rPr lang="en-CA" sz="3600" i="1" dirty="0" err="1">
                <a:latin typeface="urw-din"/>
              </a:rPr>
              <a:t>pX</a:t>
            </a:r>
            <a:r>
              <a:rPr lang="en-CA" sz="3600" i="1" dirty="0">
                <a:latin typeface="urw-din"/>
              </a:rPr>
              <a:t>;</a:t>
            </a:r>
          </a:p>
          <a:p>
            <a:r>
              <a:rPr lang="en-CA" sz="3600" i="1" dirty="0">
                <a:latin typeface="urw-din"/>
              </a:rPr>
              <a:t>int x = 9;		int* </a:t>
            </a:r>
            <a:r>
              <a:rPr lang="en-CA" sz="3600" i="1" dirty="0" err="1">
                <a:latin typeface="urw-din"/>
              </a:rPr>
              <a:t>pX</a:t>
            </a:r>
            <a:r>
              <a:rPr lang="en-CA" sz="3600" i="1" dirty="0">
                <a:latin typeface="urw-din"/>
              </a:rPr>
              <a:t> = &amp;x;</a:t>
            </a:r>
          </a:p>
          <a:p>
            <a:endParaRPr lang="en-CA" sz="3600" b="0" i="1" dirty="0">
              <a:effectLst/>
              <a:latin typeface="urw-din"/>
            </a:endParaRPr>
          </a:p>
          <a:p>
            <a:r>
              <a:rPr lang="en-CA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int* </a:t>
            </a:r>
            <a:r>
              <a:rPr lang="en-CA" sz="3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pMyArray</a:t>
            </a:r>
            <a:r>
              <a:rPr lang="en-CA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new int[10’000];</a:t>
            </a:r>
          </a:p>
          <a:p>
            <a:r>
              <a:rPr lang="en-CA" sz="3600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delete </a:t>
            </a:r>
            <a:r>
              <a:rPr lang="en-CA" sz="3600" b="1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pMyArray</a:t>
            </a:r>
            <a:r>
              <a:rPr lang="en-CA" sz="3600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	// AAACK!! NO!!!</a:t>
            </a:r>
          </a:p>
          <a:p>
            <a:r>
              <a:rPr lang="en-CA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delete [] </a:t>
            </a:r>
            <a:r>
              <a:rPr lang="en-CA" sz="3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pMyArray</a:t>
            </a:r>
            <a:r>
              <a:rPr lang="en-CA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GB" sz="3600" b="0" i="0" dirty="0">
              <a:effectLst/>
              <a:latin typeface="urw-din"/>
            </a:endParaRPr>
          </a:p>
          <a:p>
            <a:pPr marL="0" indent="0">
              <a:buNone/>
            </a:pPr>
            <a:endParaRPr lang="en-US" sz="3000" dirty="0">
              <a:latin typeface="urw-din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17996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9D68D66-6D95-2832-6DA8-B9377E463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B8EFEFE-63D1-C9AC-8756-90A35CD3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Dynamic array allocation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967299E-12C0-729A-F5ED-13729197F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4169"/>
            <a:ext cx="10515600" cy="4758812"/>
          </a:xfrm>
        </p:spPr>
        <p:txBody>
          <a:bodyPr>
            <a:normAutofit/>
          </a:bodyPr>
          <a:lstStyle/>
          <a:p>
            <a:r>
              <a:rPr lang="en-CA" sz="3600" i="1" dirty="0">
                <a:latin typeface="urw-din"/>
              </a:rPr>
              <a:t>malloc()  basically new()</a:t>
            </a:r>
          </a:p>
          <a:p>
            <a:r>
              <a:rPr lang="en-CA" sz="3600" i="1" dirty="0">
                <a:latin typeface="urw-din"/>
              </a:rPr>
              <a:t>free() basically delete()</a:t>
            </a:r>
          </a:p>
          <a:p>
            <a:r>
              <a:rPr lang="en-CA" sz="3600" b="0" i="1" dirty="0">
                <a:effectLst/>
                <a:latin typeface="urw-din"/>
              </a:rPr>
              <a:t>You don’t want to mix malloc/free and new/delete</a:t>
            </a:r>
          </a:p>
          <a:p>
            <a:r>
              <a:rPr lang="en-CA" sz="3600" i="1" dirty="0">
                <a:latin typeface="urw-din"/>
              </a:rPr>
              <a:t>new() calls malloc()</a:t>
            </a:r>
            <a:endParaRPr lang="en-GB" sz="3600" b="0" i="0" dirty="0">
              <a:effectLst/>
              <a:latin typeface="urw-din"/>
            </a:endParaRPr>
          </a:p>
          <a:p>
            <a:pPr marL="0" indent="0">
              <a:buNone/>
            </a:pPr>
            <a:endParaRPr lang="en-US" sz="3000" dirty="0">
              <a:latin typeface="urw-din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27187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EFAEA88-4C65-8F2F-7ED3-6A96C2011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15FAF88-8428-FD47-FC7E-70E0DA2646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003" y="1654655"/>
            <a:ext cx="12002139" cy="1400215"/>
          </a:xfrm>
        </p:spPr>
        <p:txBody>
          <a:bodyPr>
            <a:normAutofit fontScale="90000"/>
          </a:bodyPr>
          <a:lstStyle/>
          <a:p>
            <a:r>
              <a:rPr lang="en-GB" sz="4400" i="1" dirty="0"/>
              <a:t>Recall:</a:t>
            </a:r>
            <a:r>
              <a:rPr lang="en-GB" b="1" dirty="0"/>
              <a:t/>
            </a:r>
            <a:br>
              <a:rPr lang="en-GB" b="1" dirty="0"/>
            </a:br>
            <a:r>
              <a:rPr lang="en-GB" b="1" dirty="0"/>
              <a:t>C++ Standard Template Library</a:t>
            </a:r>
            <a:endParaRPr lang="en-CA" sz="4800" dirty="0"/>
          </a:p>
        </p:txBody>
      </p:sp>
    </p:spTree>
    <p:extLst>
      <p:ext uri="{BB962C8B-B14F-4D97-AF65-F5344CB8AC3E}">
        <p14:creationId xmlns:p14="http://schemas.microsoft.com/office/powerpoint/2010/main" xmlns="" val="4070280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9D68D66-6D95-2832-6DA8-B9377E463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B8EFEFE-63D1-C9AC-8756-90A35CD3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C++ Standard Library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967299E-12C0-729A-F5ED-13729197F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6492"/>
            <a:ext cx="10515600" cy="4240286"/>
          </a:xfrm>
        </p:spPr>
        <p:txBody>
          <a:bodyPr>
            <a:normAutofit lnSpcReduction="10000"/>
          </a:bodyPr>
          <a:lstStyle/>
          <a:p>
            <a:r>
              <a:rPr lang="en-US" sz="3200" b="0" i="0" dirty="0">
                <a:effectLst/>
                <a:latin typeface="urw-din"/>
              </a:rPr>
              <a:t>The </a:t>
            </a:r>
            <a:r>
              <a:rPr lang="en-US" sz="3200" b="1" i="0" dirty="0">
                <a:effectLst/>
                <a:latin typeface="urw-din"/>
              </a:rPr>
              <a:t>Standard Template Library </a:t>
            </a:r>
            <a:r>
              <a:rPr lang="en-US" sz="3200" b="0" i="0" dirty="0">
                <a:effectLst/>
                <a:latin typeface="urw-din"/>
              </a:rPr>
              <a:t>is </a:t>
            </a:r>
            <a:r>
              <a:rPr lang="en-US" sz="3200" b="0" i="1" dirty="0">
                <a:effectLst/>
                <a:latin typeface="urw-din"/>
              </a:rPr>
              <a:t>part</a:t>
            </a:r>
            <a:r>
              <a:rPr lang="en-US" sz="3200" b="0" i="0" dirty="0">
                <a:effectLst/>
                <a:latin typeface="urw-din"/>
              </a:rPr>
              <a:t> of the C++ Standard Library, </a:t>
            </a:r>
            <a:r>
              <a:rPr lang="en-US" sz="3200" b="0" i="1" dirty="0">
                <a:effectLst/>
                <a:latin typeface="urw-din"/>
              </a:rPr>
              <a:t>not</a:t>
            </a:r>
            <a:r>
              <a:rPr lang="en-US" sz="3200" b="0" i="0" dirty="0">
                <a:effectLst/>
                <a:latin typeface="urw-din"/>
              </a:rPr>
              <a:t> </a:t>
            </a:r>
            <a:r>
              <a:rPr lang="en-US" sz="3200" dirty="0">
                <a:latin typeface="urw-din"/>
              </a:rPr>
              <a:t>separate from it</a:t>
            </a:r>
            <a:endParaRPr lang="en-US" sz="3200" b="1" i="0" dirty="0">
              <a:effectLst/>
              <a:latin typeface="urw-din"/>
            </a:endParaRPr>
          </a:p>
          <a:p>
            <a:endParaRPr lang="en-US" sz="3200" b="0" i="0" dirty="0">
              <a:effectLst/>
              <a:latin typeface="urw-din"/>
            </a:endParaRPr>
          </a:p>
          <a:p>
            <a:r>
              <a:rPr lang="en-US" sz="3200" b="0" i="0" dirty="0">
                <a:effectLst/>
                <a:latin typeface="urw-din"/>
              </a:rPr>
              <a:t>The </a:t>
            </a:r>
            <a:r>
              <a:rPr lang="en-US" sz="3200" b="1" i="0" dirty="0">
                <a:effectLst/>
                <a:latin typeface="urw-din"/>
              </a:rPr>
              <a:t>C++ Standard Library</a:t>
            </a:r>
            <a:r>
              <a:rPr lang="en-US" sz="3200" b="0" i="0" dirty="0">
                <a:effectLst/>
                <a:latin typeface="urw-din"/>
              </a:rPr>
              <a:t>:</a:t>
            </a:r>
          </a:p>
          <a:p>
            <a:pPr lvl="1"/>
            <a:r>
              <a:rPr lang="en-GB" sz="2800" b="0" i="0" dirty="0">
                <a:effectLst/>
                <a:latin typeface="urw-din"/>
              </a:rPr>
              <a:t>Is a collection of classes and functions written in the core language</a:t>
            </a:r>
          </a:p>
          <a:p>
            <a:pPr lvl="1"/>
            <a:r>
              <a:rPr lang="en-GB" sz="2800" b="0" i="0" dirty="0">
                <a:effectLst/>
                <a:latin typeface="urw-din"/>
              </a:rPr>
              <a:t>Is made up of C++ library entities which are declared in one or more standard headers</a:t>
            </a:r>
          </a:p>
          <a:p>
            <a:pPr lvl="1"/>
            <a:r>
              <a:rPr lang="en-GB" sz="2800" b="0" i="0" dirty="0">
                <a:effectLst/>
                <a:latin typeface="urw-din"/>
              </a:rPr>
              <a:t>Includes over 50 library header files, including the </a:t>
            </a:r>
            <a:r>
              <a:rPr lang="en-GB" sz="2800" b="1" i="0" dirty="0">
                <a:effectLst/>
                <a:latin typeface="urw-din"/>
              </a:rPr>
              <a:t>Standard Template Library </a:t>
            </a:r>
            <a:r>
              <a:rPr lang="en-GB" sz="2800" b="0" i="0" dirty="0">
                <a:effectLst/>
                <a:latin typeface="urw-din"/>
              </a:rPr>
              <a:t>header files</a:t>
            </a:r>
          </a:p>
          <a:p>
            <a:pPr marL="0" indent="0">
              <a:buNone/>
            </a:pPr>
            <a:endParaRPr lang="en-US" sz="3000" dirty="0">
              <a:latin typeface="urw-din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07841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7EC701F-4A82-4348-B052-78D587CED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The C++ Standard Library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xmlns="" id="{BEF7F4EF-F3BD-4CC3-938B-F675AB2D09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286000" y="1739758"/>
            <a:ext cx="7056782" cy="190036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F1C957D-2ED4-43ED-BEE0-D20C0111D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C3E1BC-2F92-4C0E-A1BD-70E1591E94A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545F28A1-5774-469E-BA14-859855C2834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86000" y="4067176"/>
            <a:ext cx="7134419" cy="14954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473AE6F-28AF-4914-BC9E-14EE66240384}"/>
              </a:ext>
            </a:extLst>
          </p:cNvPr>
          <p:cNvSpPr txBox="1"/>
          <p:nvPr/>
        </p:nvSpPr>
        <p:spPr>
          <a:xfrm>
            <a:off x="2286000" y="1295400"/>
            <a:ext cx="480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C++ Standard Library Header files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D885156E-4865-4A97-8B7B-063394CD0514}"/>
              </a:ext>
            </a:extLst>
          </p:cNvPr>
          <p:cNvSpPr txBox="1"/>
          <p:nvPr/>
        </p:nvSpPr>
        <p:spPr>
          <a:xfrm>
            <a:off x="2286000" y="3622819"/>
            <a:ext cx="480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 Header files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D297D450-02C4-4A8E-B5A8-0A2ADA75D1AA}"/>
              </a:ext>
            </a:extLst>
          </p:cNvPr>
          <p:cNvSpPr txBox="1"/>
          <p:nvPr/>
        </p:nvSpPr>
        <p:spPr>
          <a:xfrm>
            <a:off x="2286000" y="5757094"/>
            <a:ext cx="624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Here is an up-to-date collection of C++ Libraries: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5FDA2486-166F-44D0-B749-FD0451FB7747}"/>
              </a:ext>
            </a:extLst>
          </p:cNvPr>
          <p:cNvSpPr/>
          <p:nvPr/>
        </p:nvSpPr>
        <p:spPr>
          <a:xfrm>
            <a:off x="2286000" y="6126426"/>
            <a:ext cx="42460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/>
              </a:rPr>
              <a:t>http://en.cppreference.com/w/cpp/header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22319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6EFF1B-69B9-4308-A381-EBA830737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What is the Standard Template Library?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7CFDD9A-59BA-4961-B6AA-310DCBE54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000" b="0" i="0" dirty="0">
                <a:effectLst/>
                <a:latin typeface="urw-din"/>
              </a:rPr>
              <a:t>The Standard Template Library was written by Alexander Stepanov and standardized by the ANSI/ISO committee in 1993</a:t>
            </a:r>
          </a:p>
          <a:p>
            <a:r>
              <a:rPr lang="en-US" sz="3000" b="0" i="0" dirty="0">
                <a:effectLst/>
                <a:latin typeface="urw-din"/>
              </a:rPr>
              <a:t>The S</a:t>
            </a:r>
            <a:r>
              <a:rPr lang="en-US" sz="3000" dirty="0">
                <a:latin typeface="urw-din"/>
              </a:rPr>
              <a:t>tandard Template Library</a:t>
            </a:r>
            <a:r>
              <a:rPr lang="en-US" sz="3000" b="0" i="0" dirty="0">
                <a:effectLst/>
                <a:latin typeface="urw-din"/>
              </a:rPr>
              <a:t> achieves its generic results using templates </a:t>
            </a:r>
          </a:p>
          <a:p>
            <a:r>
              <a:rPr lang="en-US" sz="3000" dirty="0">
                <a:latin typeface="urw-din"/>
              </a:rPr>
              <a:t>This approach provides a compile-time overloading of data type resolution, rather than at runtime</a:t>
            </a:r>
          </a:p>
          <a:p>
            <a:endParaRPr lang="en-US" sz="3000" dirty="0">
              <a:latin typeface="urw-din"/>
            </a:endParaRPr>
          </a:p>
          <a:p>
            <a:r>
              <a:rPr lang="en-US" sz="3000" dirty="0">
                <a:latin typeface="urw-din"/>
              </a:rPr>
              <a:t>For example:</a:t>
            </a:r>
          </a:p>
          <a:p>
            <a:pPr marL="0" indent="0">
              <a:buNone/>
            </a:pPr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	vector&lt;int&gt; </a:t>
            </a:r>
            <a:r>
              <a:rPr lang="en-US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vec</a:t>
            </a:r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 { 1,2,3 };</a:t>
            </a:r>
          </a:p>
        </p:txBody>
      </p:sp>
    </p:spTree>
    <p:extLst>
      <p:ext uri="{BB962C8B-B14F-4D97-AF65-F5344CB8AC3E}">
        <p14:creationId xmlns:p14="http://schemas.microsoft.com/office/powerpoint/2010/main" xmlns="" val="2008998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95612A9-0014-DB87-2C49-E745F39EB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BAEA475-AF05-A1F5-6ECC-782DFD428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Four Components of the STL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16B03F8-A77F-CD4E-4228-94731B8A1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339" y="1361335"/>
            <a:ext cx="10515600" cy="5417151"/>
          </a:xfrm>
        </p:spPr>
        <p:txBody>
          <a:bodyPr>
            <a:normAutofit fontScale="92500"/>
          </a:bodyPr>
          <a:lstStyle/>
          <a:p>
            <a:r>
              <a:rPr lang="en-US" b="0" i="0" dirty="0">
                <a:effectLst/>
                <a:latin typeface="urw-din"/>
              </a:rPr>
              <a:t>The Standard Template Library (STL) is made up of four components: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600" dirty="0">
                <a:latin typeface="urw-din"/>
              </a:rPr>
              <a:t>Generic containers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600" dirty="0">
                <a:latin typeface="urw-din"/>
              </a:rPr>
              <a:t>Iterators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600" dirty="0">
                <a:latin typeface="urw-din"/>
              </a:rPr>
              <a:t>Generic algorithms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600" dirty="0">
                <a:latin typeface="urw-din"/>
              </a:rPr>
              <a:t>Functors (function objects)</a:t>
            </a:r>
          </a:p>
          <a:p>
            <a:pPr lvl="1"/>
            <a:endParaRPr lang="en-US" dirty="0">
              <a:latin typeface="urw-din"/>
            </a:endParaRPr>
          </a:p>
          <a:p>
            <a:r>
              <a:rPr lang="en-US" dirty="0">
                <a:latin typeface="urw-din"/>
              </a:rPr>
              <a:t>The Standard Template Library:</a:t>
            </a:r>
          </a:p>
          <a:p>
            <a:pPr lvl="1"/>
            <a:r>
              <a:rPr lang="en-GB" dirty="0">
                <a:latin typeface="urw-din"/>
              </a:rPr>
              <a:t>Achieves generic containers using templates that can be used with any built-in type and with any user-defined type</a:t>
            </a:r>
          </a:p>
          <a:p>
            <a:pPr lvl="1"/>
            <a:r>
              <a:rPr lang="en-GB" dirty="0">
                <a:latin typeface="urw-din"/>
              </a:rPr>
              <a:t>Provides iterators which can </a:t>
            </a:r>
            <a:r>
              <a:rPr lang="en-GB" dirty="0">
                <a:solidFill>
                  <a:srgbClr val="FF0000"/>
                </a:solidFill>
                <a:latin typeface="urw-din"/>
              </a:rPr>
              <a:t>read from </a:t>
            </a:r>
            <a:r>
              <a:rPr lang="en-GB" dirty="0">
                <a:latin typeface="urw-din"/>
              </a:rPr>
              <a:t>or </a:t>
            </a:r>
            <a:r>
              <a:rPr lang="en-GB" dirty="0">
                <a:solidFill>
                  <a:srgbClr val="FF0000"/>
                </a:solidFill>
                <a:latin typeface="urw-din"/>
              </a:rPr>
              <a:t>write to </a:t>
            </a:r>
            <a:r>
              <a:rPr lang="en-GB" dirty="0">
                <a:latin typeface="urw-din"/>
              </a:rPr>
              <a:t>containers</a:t>
            </a:r>
          </a:p>
          <a:p>
            <a:pPr lvl="1"/>
            <a:r>
              <a:rPr lang="en-GB" dirty="0">
                <a:latin typeface="urw-din"/>
              </a:rPr>
              <a:t>Achieves generic algorithms using iterators</a:t>
            </a:r>
          </a:p>
          <a:p>
            <a:pPr lvl="1"/>
            <a:r>
              <a:rPr lang="en-GB" dirty="0">
                <a:latin typeface="urw-din"/>
              </a:rPr>
              <a:t>Permits function objects to be invoked as arguments to algorithms</a:t>
            </a:r>
          </a:p>
          <a:p>
            <a:pPr lvl="2"/>
            <a:r>
              <a:rPr lang="en-GB" sz="2200" dirty="0">
                <a:latin typeface="urw-din"/>
              </a:rPr>
              <a:t>e.g. predicates, built-in and user-defined function objects, lambda expressions</a:t>
            </a:r>
            <a:endParaRPr lang="en-US" sz="2200" dirty="0">
              <a:latin typeface="urw-din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18848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6EFF1B-69B9-4308-A381-EBA830737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Containers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7CFDD9A-59BA-4961-B6AA-310DCBE54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STL includes libraries for data structures (called containers)</a:t>
            </a:r>
          </a:p>
          <a:p>
            <a:r>
              <a:rPr lang="en-US" dirty="0">
                <a:latin typeface="urw-din"/>
              </a:rPr>
              <a:t>A container is a holder object that stores a collection of other objects of a similar type</a:t>
            </a:r>
          </a:p>
          <a:p>
            <a:r>
              <a:rPr lang="en-US" dirty="0">
                <a:latin typeface="urw-din"/>
              </a:rPr>
              <a:t>Containers replicate structures very commonly used programming</a:t>
            </a:r>
          </a:p>
          <a:p>
            <a:endParaRPr lang="en-US" dirty="0">
              <a:latin typeface="urw-din"/>
            </a:endParaRPr>
          </a:p>
          <a:p>
            <a:r>
              <a:rPr lang="en-US" dirty="0">
                <a:latin typeface="urw-din"/>
              </a:rPr>
              <a:t>Advantages of using STL container classes include:</a:t>
            </a:r>
          </a:p>
          <a:p>
            <a:pPr lvl="1"/>
            <a:r>
              <a:rPr lang="en-US" dirty="0"/>
              <a:t>Use of a common interface</a:t>
            </a:r>
          </a:p>
          <a:p>
            <a:pPr lvl="1"/>
            <a:r>
              <a:rPr lang="en-US" dirty="0"/>
              <a:t>A common set of operations</a:t>
            </a:r>
          </a:p>
          <a:p>
            <a:pPr lvl="1"/>
            <a:r>
              <a:rPr lang="en-US" dirty="0"/>
              <a:t>Extensive use of iterators, which facilitate cycling through a container</a:t>
            </a:r>
          </a:p>
          <a:p>
            <a:pPr lvl="1"/>
            <a:r>
              <a:rPr lang="en-US" dirty="0"/>
              <a:t>Use of generic algorithms</a:t>
            </a:r>
            <a:endParaRPr lang="en-US" dirty="0">
              <a:latin typeface="urw-din"/>
            </a:endParaRPr>
          </a:p>
          <a:p>
            <a:pPr lvl="1"/>
            <a:endParaRPr lang="en-US" dirty="0">
              <a:latin typeface="urw-din"/>
            </a:endParaRPr>
          </a:p>
          <a:p>
            <a:pPr lvl="1"/>
            <a:endParaRPr lang="en-US" dirty="0">
              <a:latin typeface="urw-din"/>
            </a:endParaRPr>
          </a:p>
          <a:p>
            <a:pPr marL="457200" lvl="1" indent="0">
              <a:buNone/>
            </a:pPr>
            <a:endParaRPr lang="en-CA" dirty="0">
              <a:latin typeface="urw-din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77365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75F2F4F-3250-D910-2A69-509E932F0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809E145-DA5B-FF94-170F-4D05C98DC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Types of Containers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A08F19E-CF99-3874-6515-7983EE2D2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341" y="1508943"/>
            <a:ext cx="10517459" cy="4554232"/>
          </a:xfrm>
        </p:spPr>
        <p:txBody>
          <a:bodyPr>
            <a:normAutofit/>
          </a:bodyPr>
          <a:lstStyle/>
          <a:p>
            <a:r>
              <a:rPr lang="en-US" sz="3000" b="0" i="0" dirty="0">
                <a:effectLst/>
                <a:latin typeface="urw-din"/>
              </a:rPr>
              <a:t>Sequence</a:t>
            </a:r>
          </a:p>
          <a:p>
            <a:r>
              <a:rPr lang="en-US" sz="3000" dirty="0">
                <a:latin typeface="urw-din"/>
              </a:rPr>
              <a:t>Sequence Adapters</a:t>
            </a:r>
          </a:p>
          <a:p>
            <a:r>
              <a:rPr lang="en-US" sz="3000" b="0" i="0" dirty="0">
                <a:effectLst/>
                <a:latin typeface="urw-din"/>
              </a:rPr>
              <a:t>Associative</a:t>
            </a:r>
          </a:p>
          <a:p>
            <a:r>
              <a:rPr lang="en-US" sz="3000" dirty="0">
                <a:latin typeface="urw-din"/>
              </a:rPr>
              <a:t>Unordered Associative</a:t>
            </a:r>
          </a:p>
          <a:p>
            <a:pPr lvl="1"/>
            <a:endParaRPr lang="en-US" dirty="0">
              <a:latin typeface="urw-din"/>
            </a:endParaRPr>
          </a:p>
          <a:p>
            <a:pPr marL="457200" lvl="1" indent="0">
              <a:buNone/>
            </a:pPr>
            <a:endParaRPr lang="en-CA" dirty="0">
              <a:latin typeface="urw-din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91475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72B3FC7-B218-C227-28F9-4DE98971B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8859" y="186653"/>
            <a:ext cx="5590429" cy="830629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bg1"/>
                </a:solidFill>
              </a:rPr>
              <a:t>An STL Container - Vector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032D854-B744-0279-DBAD-6E685BAC3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658" y="2578093"/>
            <a:ext cx="2879558" cy="573430"/>
          </a:xfrm>
        </p:spPr>
        <p:txBody>
          <a:bodyPr/>
          <a:lstStyle/>
          <a:p>
            <a:pPr marL="0" indent="0">
              <a:buNone/>
            </a:pPr>
            <a:r>
              <a:rPr lang="en-CA" sz="1600" dirty="0">
                <a:hlinkClick r:id="rId2"/>
              </a:rPr>
              <a:t>https://en.cppreference.com/w/cpp/container/vector.html</a:t>
            </a:r>
            <a:endParaRPr lang="en-CA" sz="1600" dirty="0"/>
          </a:p>
          <a:p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F5A56A9-6AF4-5952-F028-42E1BB0A0BE0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460498" y="934055"/>
            <a:ext cx="8654662" cy="592394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EA3F7F4A-740A-7AE5-4565-00C9BC0768D8}"/>
              </a:ext>
            </a:extLst>
          </p:cNvPr>
          <p:cNvSpPr txBox="1"/>
          <p:nvPr/>
        </p:nvSpPr>
        <p:spPr>
          <a:xfrm>
            <a:off x="186355" y="1755001"/>
            <a:ext cx="29401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dirty="0">
                <a:hlinkClick r:id="rId4"/>
              </a:rPr>
              <a:t>https://cplusplus.com/reference/vector/vector/</a:t>
            </a:r>
            <a:endParaRPr lang="en-CA" sz="1600" dirty="0"/>
          </a:p>
        </p:txBody>
      </p:sp>
    </p:spTree>
    <p:extLst>
      <p:ext uri="{BB962C8B-B14F-4D97-AF65-F5344CB8AC3E}">
        <p14:creationId xmlns:p14="http://schemas.microsoft.com/office/powerpoint/2010/main" xmlns="" val="42857120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251478F-79CA-0481-BE79-CB50B2198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7F52B06-5418-C43C-4DDB-88E5685BF7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003" y="1654655"/>
            <a:ext cx="12002139" cy="1400215"/>
          </a:xfrm>
        </p:spPr>
        <p:txBody>
          <a:bodyPr>
            <a:normAutofit fontScale="90000"/>
          </a:bodyPr>
          <a:lstStyle/>
          <a:p>
            <a:r>
              <a:rPr lang="en-GB" sz="4400" i="1" dirty="0"/>
              <a:t>Introducing:</a:t>
            </a:r>
            <a:r>
              <a:rPr lang="en-GB" b="1" dirty="0"/>
              <a:t/>
            </a:r>
            <a:br>
              <a:rPr lang="en-GB" b="1" dirty="0"/>
            </a:br>
            <a:r>
              <a:rPr lang="en-GB" b="1" dirty="0"/>
              <a:t>Containers or Collections</a:t>
            </a:r>
            <a:endParaRPr lang="en-CA" sz="4800" dirty="0"/>
          </a:p>
        </p:txBody>
      </p:sp>
    </p:spTree>
    <p:extLst>
      <p:ext uri="{BB962C8B-B14F-4D97-AF65-F5344CB8AC3E}">
        <p14:creationId xmlns:p14="http://schemas.microsoft.com/office/powerpoint/2010/main" xmlns="" val="6223594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4AFC74-4BB6-E265-0213-A905D12D1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Containers or Collections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4094B1B-62DE-3690-2FCC-BD35C6FE6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420" y="1479726"/>
            <a:ext cx="10515600" cy="5035373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A </a:t>
            </a:r>
            <a:r>
              <a:rPr lang="en-GB" b="1" i="1" dirty="0"/>
              <a:t>container</a:t>
            </a:r>
            <a:r>
              <a:rPr lang="en-GB" dirty="0"/>
              <a:t> or </a:t>
            </a:r>
            <a:r>
              <a:rPr lang="en-GB" b="1" i="1" dirty="0"/>
              <a:t>collection</a:t>
            </a:r>
            <a:r>
              <a:rPr lang="en-GB" dirty="0"/>
              <a:t> gathers and organizes other objects, known as elements</a:t>
            </a:r>
          </a:p>
          <a:p>
            <a:r>
              <a:rPr lang="en-GB" dirty="0"/>
              <a:t>The </a:t>
            </a:r>
            <a:r>
              <a:rPr lang="en-GB" b="1" i="1" dirty="0"/>
              <a:t>container</a:t>
            </a:r>
            <a:r>
              <a:rPr lang="en-GB" dirty="0"/>
              <a:t> defines specific ways in which its elements are managed and accessed</a:t>
            </a:r>
          </a:p>
          <a:p>
            <a:r>
              <a:rPr lang="en-GB" dirty="0"/>
              <a:t>A user of the container must interact with the container only in the prescribed ways</a:t>
            </a:r>
          </a:p>
          <a:p>
            <a:r>
              <a:rPr lang="en-GB" dirty="0"/>
              <a:t>There are two broad categories of containers:</a:t>
            </a:r>
          </a:p>
          <a:p>
            <a:r>
              <a:rPr lang="en-GB" b="1" dirty="0"/>
              <a:t>Linear</a:t>
            </a:r>
          </a:p>
          <a:p>
            <a:pPr lvl="1"/>
            <a:r>
              <a:rPr lang="en-GB" dirty="0"/>
              <a:t>Elements are organized in a straight line</a:t>
            </a:r>
          </a:p>
          <a:p>
            <a:pPr lvl="1"/>
            <a:r>
              <a:rPr lang="en-GB" dirty="0"/>
              <a:t>Each element has a unique predecessor and successor</a:t>
            </a:r>
          </a:p>
          <a:p>
            <a:r>
              <a:rPr lang="en-GB" b="1" dirty="0"/>
              <a:t>Nonlinear</a:t>
            </a:r>
          </a:p>
          <a:p>
            <a:pPr lvl="1"/>
            <a:r>
              <a:rPr lang="en-GB" dirty="0"/>
              <a:t>Elements are organized in a hierarchy or a network</a:t>
            </a:r>
          </a:p>
          <a:p>
            <a:pPr lvl="1"/>
            <a:r>
              <a:rPr lang="en-GB" dirty="0"/>
              <a:t>Each item may have only one predecessor but many successors </a:t>
            </a:r>
          </a:p>
          <a:p>
            <a:endParaRPr lang="en-CA" dirty="0"/>
          </a:p>
        </p:txBody>
      </p:sp>
      <p:pic>
        <p:nvPicPr>
          <p:cNvPr id="2050" name="Picture 2" descr="Difference between Linear and Non-linear Data Structure (with Comparison  Chart) - Tech differences">
            <a:extLst>
              <a:ext uri="{FF2B5EF4-FFF2-40B4-BE49-F238E27FC236}">
                <a16:creationId xmlns:a16="http://schemas.microsoft.com/office/drawing/2014/main" xmlns="" id="{76D527D7-C0C5-27BF-0FB9-FC3877A36B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827585" y="3997412"/>
            <a:ext cx="3985319" cy="1949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825099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4361D08-D02C-CB95-6EDB-4D9E367E8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1399" y="1452880"/>
            <a:ext cx="5157787" cy="521017"/>
          </a:xfrm>
        </p:spPr>
        <p:txBody>
          <a:bodyPr>
            <a:normAutofit lnSpcReduction="10000"/>
          </a:bodyPr>
          <a:lstStyle/>
          <a:p>
            <a:r>
              <a:rPr lang="en-GB" sz="3200" dirty="0"/>
              <a:t>Linear Collections</a:t>
            </a:r>
            <a:r>
              <a:rPr lang="en-GB" dirty="0"/>
              <a:t>		</a:t>
            </a: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836FCCB-5DFF-30ED-58A1-FAE420736D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1399" y="2223135"/>
            <a:ext cx="5157787" cy="3684588"/>
          </a:xfrm>
        </p:spPr>
        <p:txBody>
          <a:bodyPr>
            <a:normAutofit/>
          </a:bodyPr>
          <a:lstStyle/>
          <a:p>
            <a:r>
              <a:rPr lang="en-GB" dirty="0"/>
              <a:t>Array</a:t>
            </a:r>
          </a:p>
          <a:p>
            <a:r>
              <a:rPr lang="en-GB" dirty="0"/>
              <a:t>Vector</a:t>
            </a:r>
          </a:p>
          <a:p>
            <a:r>
              <a:rPr lang="en-GB" dirty="0"/>
              <a:t>Stack</a:t>
            </a:r>
          </a:p>
          <a:p>
            <a:r>
              <a:rPr lang="en-GB" dirty="0"/>
              <a:t>List</a:t>
            </a:r>
          </a:p>
          <a:p>
            <a:r>
              <a:rPr lang="en-GB" dirty="0"/>
              <a:t>Queue</a:t>
            </a:r>
          </a:p>
          <a:p>
            <a:endParaRPr lang="en-CA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DE86F61D-D67F-2A55-CC95-6AA4166911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452880"/>
            <a:ext cx="5183188" cy="521017"/>
          </a:xfrm>
        </p:spPr>
        <p:txBody>
          <a:bodyPr>
            <a:noAutofit/>
          </a:bodyPr>
          <a:lstStyle/>
          <a:p>
            <a:r>
              <a:rPr lang="en-GB" sz="3200" dirty="0"/>
              <a:t>Nonlinear Collections</a:t>
            </a:r>
            <a:endParaRPr lang="en-CA" sz="32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A66F6E1A-C953-93A0-3645-1F2A1E6F4F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23135"/>
            <a:ext cx="5183188" cy="4052974"/>
          </a:xfrm>
        </p:spPr>
        <p:txBody>
          <a:bodyPr>
            <a:normAutofit/>
          </a:bodyPr>
          <a:lstStyle/>
          <a:p>
            <a:r>
              <a:rPr lang="en-GB" dirty="0"/>
              <a:t>Tree</a:t>
            </a:r>
          </a:p>
          <a:p>
            <a:r>
              <a:rPr lang="en-GB" dirty="0"/>
              <a:t>Binary tree</a:t>
            </a:r>
          </a:p>
          <a:p>
            <a:r>
              <a:rPr lang="en-GB" dirty="0"/>
              <a:t>Binary search tree</a:t>
            </a:r>
          </a:p>
          <a:p>
            <a:r>
              <a:rPr lang="en-GB" dirty="0"/>
              <a:t>Heap</a:t>
            </a:r>
          </a:p>
          <a:p>
            <a:r>
              <a:rPr lang="en-GB" dirty="0" err="1"/>
              <a:t>Hashmap</a:t>
            </a:r>
            <a:r>
              <a:rPr lang="en-GB" dirty="0"/>
              <a:t> </a:t>
            </a:r>
          </a:p>
          <a:p>
            <a:r>
              <a:rPr lang="en-GB" dirty="0"/>
              <a:t>Graph</a:t>
            </a:r>
          </a:p>
          <a:p>
            <a:r>
              <a:rPr lang="en-GB" dirty="0"/>
              <a:t>Set</a:t>
            </a:r>
          </a:p>
          <a:p>
            <a:r>
              <a:rPr lang="en-GB" dirty="0"/>
              <a:t>Map</a:t>
            </a:r>
          </a:p>
          <a:p>
            <a:endParaRPr lang="en-CA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A5AB8C95-6D7D-1684-3346-90B19B555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948" y="325119"/>
            <a:ext cx="10515600" cy="686435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bg1"/>
                </a:solidFill>
              </a:rPr>
              <a:t>Two Categories of Collections</a:t>
            </a:r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770015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CF56D1-F2AD-EAA1-5E7A-2FCC5CD3A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883" y="1489065"/>
            <a:ext cx="10515600" cy="5109698"/>
          </a:xfrm>
        </p:spPr>
        <p:txBody>
          <a:bodyPr>
            <a:normAutofit/>
          </a:bodyPr>
          <a:lstStyle/>
          <a:p>
            <a:r>
              <a:rPr lang="en-GB" dirty="0"/>
              <a:t>STL containers are collections of objects</a:t>
            </a:r>
          </a:p>
          <a:p>
            <a:r>
              <a:rPr lang="en-GB" dirty="0"/>
              <a:t>They are </a:t>
            </a:r>
            <a:r>
              <a:rPr lang="en-GB" b="1" dirty="0"/>
              <a:t>Abstract Data Types </a:t>
            </a:r>
            <a:r>
              <a:rPr lang="en-GB" dirty="0"/>
              <a:t>that come with operations for accessing and managing the elements</a:t>
            </a:r>
          </a:p>
          <a:p>
            <a:r>
              <a:rPr lang="en-GB" dirty="0"/>
              <a:t>All we must do is use them!</a:t>
            </a:r>
          </a:p>
          <a:p>
            <a:r>
              <a:rPr lang="en-GB" dirty="0"/>
              <a:t>For example:</a:t>
            </a:r>
          </a:p>
          <a:p>
            <a:pPr lvl="1"/>
            <a:r>
              <a:rPr lang="en-GB" sz="2200" dirty="0"/>
              <a:t>Create a vector</a:t>
            </a:r>
          </a:p>
          <a:p>
            <a:pPr lvl="1"/>
            <a:r>
              <a:rPr lang="en-GB" sz="2200" dirty="0"/>
              <a:t>Get its size, capacity, empty state</a:t>
            </a:r>
          </a:p>
          <a:p>
            <a:pPr lvl="1"/>
            <a:r>
              <a:rPr lang="en-GB" sz="2200" dirty="0"/>
              <a:t>Add an element to the back</a:t>
            </a:r>
          </a:p>
          <a:p>
            <a:pPr lvl="1"/>
            <a:r>
              <a:rPr lang="en-GB" sz="2200" dirty="0"/>
              <a:t>Remove an element from the back</a:t>
            </a:r>
          </a:p>
          <a:p>
            <a:pPr lvl="1"/>
            <a:r>
              <a:rPr lang="en-GB" sz="2200" dirty="0"/>
              <a:t>Erase an element</a:t>
            </a:r>
          </a:p>
          <a:p>
            <a:pPr lvl="1"/>
            <a:r>
              <a:rPr lang="en-GB" sz="2200" dirty="0"/>
              <a:t>Insert an element</a:t>
            </a:r>
          </a:p>
          <a:p>
            <a:pPr lvl="1"/>
            <a:r>
              <a:rPr lang="en-GB" sz="2200" dirty="0"/>
              <a:t>Clear all elements</a:t>
            </a:r>
          </a:p>
          <a:p>
            <a:endParaRPr lang="en-GB" dirty="0"/>
          </a:p>
          <a:p>
            <a:endParaRPr lang="en-CA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A695404E-F823-A932-63BA-312FE7F6B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815" y="182245"/>
            <a:ext cx="9313985" cy="830629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STL Containers</a:t>
            </a:r>
            <a:endParaRPr lang="en-CA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4C0F1DE-C59B-7E0C-3A9E-7F482402558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250676" y="3256722"/>
            <a:ext cx="6530442" cy="2403254"/>
          </a:xfrm>
          <a:prstGeom prst="rect">
            <a:avLst/>
          </a:prstGeom>
          <a:ln w="95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xmlns="" val="23639706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4AFC74-4BB6-E265-0213-A905D12D1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Abstract Data Type</a:t>
            </a:r>
            <a:endParaRPr lang="en-CA" dirty="0">
              <a:solidFill>
                <a:schemeClr val="bg1"/>
              </a:solidFill>
            </a:endParaRPr>
          </a:p>
        </p:txBody>
      </p:sp>
      <p:pic>
        <p:nvPicPr>
          <p:cNvPr id="1026" name="Picture 2" descr="Driving Car Stock Illustrations – 142,208 Driving Car Stock Illustrations,  Vectors &amp; Clipart - Dreamstime">
            <a:extLst>
              <a:ext uri="{FF2B5EF4-FFF2-40B4-BE49-F238E27FC236}">
                <a16:creationId xmlns:a16="http://schemas.microsoft.com/office/drawing/2014/main" xmlns="" id="{71E9EF9A-307A-F319-25DE-270490741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780020" y="2109065"/>
            <a:ext cx="4046220" cy="1886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4094B1B-62DE-3690-2FCC-BD35C6FE6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759" y="1291003"/>
            <a:ext cx="10680084" cy="540922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An abstraction hides the details from its user</a:t>
            </a:r>
          </a:p>
          <a:p>
            <a:r>
              <a:rPr lang="en-GB" dirty="0"/>
              <a:t>For example:</a:t>
            </a:r>
          </a:p>
          <a:p>
            <a:r>
              <a:rPr lang="en-GB" dirty="0"/>
              <a:t>A driver of a car only needs to know operations like:</a:t>
            </a:r>
          </a:p>
          <a:p>
            <a:pPr lvl="1"/>
            <a:r>
              <a:rPr lang="en-GB" dirty="0"/>
              <a:t>Start</a:t>
            </a:r>
          </a:p>
          <a:p>
            <a:pPr lvl="1"/>
            <a:r>
              <a:rPr lang="en-GB" dirty="0"/>
              <a:t>Drive</a:t>
            </a:r>
          </a:p>
          <a:p>
            <a:pPr lvl="1"/>
            <a:r>
              <a:rPr lang="en-GB" dirty="0"/>
              <a:t>Reverse</a:t>
            </a:r>
          </a:p>
          <a:p>
            <a:pPr lvl="1"/>
            <a:r>
              <a:rPr lang="en-GB" dirty="0"/>
              <a:t>Brake</a:t>
            </a:r>
          </a:p>
          <a:p>
            <a:pPr lvl="1"/>
            <a:r>
              <a:rPr lang="en-GB" dirty="0"/>
              <a:t>Stop</a:t>
            </a:r>
            <a:endParaRPr lang="en-CA" dirty="0"/>
          </a:p>
          <a:p>
            <a:r>
              <a:rPr lang="en-CA" dirty="0"/>
              <a:t>A driver can use a car’s ignition, steering wheel, gas and brake pedals</a:t>
            </a:r>
          </a:p>
          <a:p>
            <a:pPr lvl="1"/>
            <a:r>
              <a:rPr lang="en-CA" dirty="0"/>
              <a:t>These can be described as the car’s </a:t>
            </a:r>
            <a:r>
              <a:rPr lang="en-CA" b="1" i="1" dirty="0"/>
              <a:t>interface</a:t>
            </a:r>
            <a:r>
              <a:rPr lang="en-CA" dirty="0"/>
              <a:t> </a:t>
            </a:r>
          </a:p>
          <a:p>
            <a:r>
              <a:rPr lang="en-CA" dirty="0"/>
              <a:t>A driver doesn’t need to know anything about the mechanics or electronics of a car</a:t>
            </a:r>
          </a:p>
          <a:p>
            <a:pPr lvl="1"/>
            <a:r>
              <a:rPr lang="en-CA" dirty="0"/>
              <a:t>These can be described as the car’s </a:t>
            </a:r>
            <a:r>
              <a:rPr lang="en-CA" b="1" i="1" dirty="0"/>
              <a:t>implementation</a:t>
            </a:r>
            <a:r>
              <a:rPr lang="en-CA" dirty="0"/>
              <a:t> details</a:t>
            </a:r>
          </a:p>
        </p:txBody>
      </p:sp>
    </p:spTree>
    <p:extLst>
      <p:ext uri="{BB962C8B-B14F-4D97-AF65-F5344CB8AC3E}">
        <p14:creationId xmlns:p14="http://schemas.microsoft.com/office/powerpoint/2010/main" xmlns="" val="3403507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4AFC74-4BB6-E265-0213-A905D12D1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815" y="157774"/>
            <a:ext cx="9313985" cy="1030329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bg1"/>
                </a:solidFill>
              </a:rPr>
              <a:t>Why separate interface and implementation?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4094B1B-62DE-3690-2FCC-BD35C6FE6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16" y="1448777"/>
            <a:ext cx="10680084" cy="3237523"/>
          </a:xfrm>
        </p:spPr>
        <p:txBody>
          <a:bodyPr>
            <a:normAutofit/>
          </a:bodyPr>
          <a:lstStyle/>
          <a:p>
            <a:r>
              <a:rPr lang="en-GB" dirty="0"/>
              <a:t>The interface defines the collection’s operations</a:t>
            </a:r>
          </a:p>
          <a:p>
            <a:pPr lvl="1"/>
            <a:r>
              <a:rPr lang="en-GB" dirty="0"/>
              <a:t>Keep code out of the interface definition (.h/.</a:t>
            </a:r>
            <a:r>
              <a:rPr lang="en-GB" dirty="0" err="1"/>
              <a:t>hpp</a:t>
            </a:r>
            <a:r>
              <a:rPr lang="en-GB" dirty="0"/>
              <a:t>) file unless it’s a template</a:t>
            </a:r>
          </a:p>
          <a:p>
            <a:r>
              <a:rPr lang="en-GB" dirty="0"/>
              <a:t>A separate file implements the collection ‘s interface</a:t>
            </a:r>
          </a:p>
          <a:p>
            <a:r>
              <a:rPr lang="en-GB" dirty="0"/>
              <a:t>Why?</a:t>
            </a:r>
          </a:p>
          <a:p>
            <a:pPr lvl="1"/>
            <a:r>
              <a:rPr lang="en-US" dirty="0"/>
              <a:t>If you change the implementation of an operation, that is find a more efficient method, you don’t have to change the interface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xmlns="" val="6858905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836FCCB-5DFF-30ED-58A1-FAE420736D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3189" y="1586706"/>
            <a:ext cx="9904897" cy="3684588"/>
          </a:xfrm>
        </p:spPr>
        <p:txBody>
          <a:bodyPr/>
          <a:lstStyle/>
          <a:p>
            <a:r>
              <a:rPr lang="en-GB" dirty="0"/>
              <a:t>Though the Standard Template Library comes with collections we can use, we will implement our own data structures</a:t>
            </a:r>
          </a:p>
          <a:p>
            <a:endParaRPr lang="en-CA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A5AB8C95-6D7D-1684-3346-90B19B555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948" y="325119"/>
            <a:ext cx="9329930" cy="686435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bg1"/>
                </a:solidFill>
              </a:rPr>
              <a:t>Implementing our own Collections</a:t>
            </a:r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92927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836FCCB-5DFF-30ED-58A1-FAE420736D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3189" y="1586706"/>
            <a:ext cx="9904897" cy="3206750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3600" dirty="0"/>
              <a:t>For each collection we will consider: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-457200" algn="l"/>
                <a:tab pos="0" algn="l"/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</a:pPr>
            <a:r>
              <a:rPr lang="en-US" sz="2800" dirty="0">
                <a:effectLst/>
                <a:latin typeface="Yu Gothic UI" panose="020B0500000000000000" pitchFamily="34" charset="-128"/>
                <a:ea typeface="Times New Roman" panose="02020603050405020304" pitchFamily="18" charset="0"/>
                <a:cs typeface="Yu Gothic UI" panose="020B0500000000000000" pitchFamily="34" charset="-128"/>
              </a:rPr>
              <a:t>how does collection operate conceptually</a:t>
            </a:r>
            <a:endParaRPr lang="en-CA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-457200" algn="l"/>
                <a:tab pos="0" algn="l"/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</a:pPr>
            <a:r>
              <a:rPr lang="en-US" sz="2800" dirty="0">
                <a:effectLst/>
                <a:latin typeface="Yu Gothic UI" panose="020B0500000000000000" pitchFamily="34" charset="-128"/>
                <a:ea typeface="Times New Roman" panose="02020603050405020304" pitchFamily="18" charset="0"/>
                <a:cs typeface="Yu Gothic UI" panose="020B0500000000000000" pitchFamily="34" charset="-128"/>
              </a:rPr>
              <a:t>how do we formally define the interface</a:t>
            </a:r>
            <a:endParaRPr lang="en-CA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-457200" algn="l"/>
                <a:tab pos="0" algn="l"/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</a:pPr>
            <a:r>
              <a:rPr lang="en-US" sz="2800" dirty="0">
                <a:effectLst/>
                <a:latin typeface="Yu Gothic UI" panose="020B0500000000000000" pitchFamily="34" charset="-128"/>
                <a:ea typeface="Times New Roman" panose="02020603050405020304" pitchFamily="18" charset="0"/>
                <a:cs typeface="Yu Gothic UI" panose="020B0500000000000000" pitchFamily="34" charset="-128"/>
              </a:rPr>
              <a:t>what kinds of problems does the collection help us solve</a:t>
            </a:r>
            <a:endParaRPr lang="en-CA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-457200" algn="l"/>
                <a:tab pos="0" algn="l"/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</a:pPr>
            <a:r>
              <a:rPr lang="en-US" sz="2800" dirty="0">
                <a:effectLst/>
                <a:latin typeface="Yu Gothic UI" panose="020B0500000000000000" pitchFamily="34" charset="-128"/>
                <a:ea typeface="Times New Roman" panose="02020603050405020304" pitchFamily="18" charset="0"/>
                <a:cs typeface="Yu Gothic UI" panose="020B0500000000000000" pitchFamily="34" charset="-128"/>
              </a:rPr>
              <a:t>in what ways will we implement the collection</a:t>
            </a:r>
            <a:endParaRPr lang="en-CA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-457200" algn="l"/>
                <a:tab pos="0" algn="l"/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</a:pPr>
            <a:r>
              <a:rPr lang="en-US" sz="2800" dirty="0">
                <a:effectLst/>
                <a:latin typeface="Yu Gothic UI" panose="020B0500000000000000" pitchFamily="34" charset="-128"/>
                <a:ea typeface="Times New Roman" panose="02020603050405020304" pitchFamily="18" charset="0"/>
                <a:cs typeface="Yu Gothic UI" panose="020B0500000000000000" pitchFamily="34" charset="-128"/>
              </a:rPr>
              <a:t>what are benefits and costs of each implementation</a:t>
            </a:r>
            <a:endParaRPr lang="en-CA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A5AB8C95-6D7D-1684-3346-90B19B555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948" y="325119"/>
            <a:ext cx="9329930" cy="686435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bg1"/>
                </a:solidFill>
              </a:rPr>
              <a:t>Collections have their own Operations</a:t>
            </a:r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863555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Linear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8943"/>
            <a:ext cx="10515600" cy="4813276"/>
          </a:xfrm>
        </p:spPr>
        <p:txBody>
          <a:bodyPr>
            <a:normAutofit/>
          </a:bodyPr>
          <a:lstStyle/>
          <a:p>
            <a:r>
              <a:rPr lang="en-CA" dirty="0"/>
              <a:t>Lists are one of the most common data structures for storing information</a:t>
            </a:r>
          </a:p>
          <a:p>
            <a:r>
              <a:rPr lang="en-CA" dirty="0"/>
              <a:t>Lists are also referred to as collections</a:t>
            </a:r>
          </a:p>
          <a:p>
            <a:r>
              <a:rPr lang="en-CA" dirty="0"/>
              <a:t>Examples of data we might store in a list:</a:t>
            </a:r>
          </a:p>
          <a:p>
            <a:pPr lvl="1"/>
            <a:r>
              <a:rPr lang="en-CA" dirty="0"/>
              <a:t>A list of game scores, or a player’s items that they have in their inventory</a:t>
            </a:r>
          </a:p>
          <a:p>
            <a:pPr lvl="1"/>
            <a:r>
              <a:rPr lang="en-CA" dirty="0"/>
              <a:t>A list of patients in a hospital who are waiting to been seen</a:t>
            </a:r>
          </a:p>
          <a:p>
            <a:r>
              <a:rPr lang="en-CA" dirty="0"/>
              <a:t>Linear lists have sequential access</a:t>
            </a:r>
          </a:p>
          <a:p>
            <a:pPr lvl="1"/>
            <a:r>
              <a:rPr lang="en-GB" dirty="0"/>
              <a:t>Each element has a unique predecessor and successor</a:t>
            </a:r>
          </a:p>
          <a:p>
            <a:endParaRPr lang="en-CA" dirty="0"/>
          </a:p>
          <a:p>
            <a:r>
              <a:rPr lang="en-CA" dirty="0"/>
              <a:t>An array is a linear list.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xmlns="" val="13899264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An Array is a Linear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5433" y="1332544"/>
            <a:ext cx="11247783" cy="5196657"/>
          </a:xfrm>
        </p:spPr>
        <p:txBody>
          <a:bodyPr>
            <a:normAutofit/>
          </a:bodyPr>
          <a:lstStyle/>
          <a:p>
            <a:r>
              <a:rPr lang="en-CA" dirty="0"/>
              <a:t>An array stores its data in a straight line</a:t>
            </a:r>
          </a:p>
          <a:p>
            <a:endParaRPr lang="en-CA" dirty="0"/>
          </a:p>
          <a:p>
            <a:endParaRPr lang="en-CA" dirty="0"/>
          </a:p>
          <a:p>
            <a:pPr lvl="1"/>
            <a:r>
              <a:rPr lang="en-CA" sz="2000" dirty="0"/>
              <a:t>Array length = 9 elements</a:t>
            </a:r>
          </a:p>
          <a:p>
            <a:pPr lvl="1"/>
            <a:r>
              <a:rPr lang="en-CA" sz="2000" dirty="0"/>
              <a:t>First index = 0</a:t>
            </a:r>
          </a:p>
          <a:p>
            <a:pPr lvl="1"/>
            <a:r>
              <a:rPr lang="en-CA" sz="2000" dirty="0"/>
              <a:t>Last index = 8</a:t>
            </a:r>
          </a:p>
          <a:p>
            <a:r>
              <a:rPr lang="en-CA" dirty="0"/>
              <a:t>An array uses contiguous memory and has random access to its elements</a:t>
            </a:r>
          </a:p>
          <a:p>
            <a:pPr lvl="1"/>
            <a:r>
              <a:rPr lang="en-CA" dirty="0"/>
              <a:t>array[6] = 77</a:t>
            </a:r>
          </a:p>
          <a:p>
            <a:r>
              <a:rPr lang="en-CA" dirty="0"/>
              <a:t>Arrays are homogenous</a:t>
            </a:r>
          </a:p>
          <a:p>
            <a:r>
              <a:rPr lang="en-CA" dirty="0"/>
              <a:t>Operations on arrays are limited to its structure</a:t>
            </a:r>
          </a:p>
          <a:p>
            <a:r>
              <a:rPr lang="en-CA" dirty="0"/>
              <a:t>Arrays have a fixed size and capacity</a:t>
            </a:r>
          </a:p>
          <a:p>
            <a:endParaRPr lang="en-CA" dirty="0"/>
          </a:p>
          <a:p>
            <a:pPr marL="0" indent="0">
              <a:buNone/>
            </a:pPr>
            <a:endParaRPr lang="en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462361C1-8AF8-6A53-FA17-F763E079C50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95875" y="1973424"/>
            <a:ext cx="8950691" cy="616538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D8C3C9F0-302B-E70A-C34C-07A87A415EEB}"/>
              </a:ext>
            </a:extLst>
          </p:cNvPr>
          <p:cNvGrpSpPr/>
          <p:nvPr/>
        </p:nvGrpSpPr>
        <p:grpSpPr>
          <a:xfrm>
            <a:off x="1006158" y="2097027"/>
            <a:ext cx="1364973" cy="369332"/>
            <a:chOff x="6460435" y="3240157"/>
            <a:chExt cx="1364973" cy="36933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xmlns="" id="{851E82BA-0390-2CB5-E1D3-DA9A1D46DA83}"/>
                </a:ext>
              </a:extLst>
            </p:cNvPr>
            <p:cNvSpPr txBox="1"/>
            <p:nvPr/>
          </p:nvSpPr>
          <p:spPr>
            <a:xfrm>
              <a:off x="6460435" y="3240157"/>
              <a:ext cx="715617" cy="369332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array</a:t>
              </a:r>
              <a:endParaRPr lang="en-CA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xmlns="" id="{A02A07EF-7DD6-AE3A-6FE5-2EBE03535520}"/>
                </a:ext>
              </a:extLst>
            </p:cNvPr>
            <p:cNvCxnSpPr/>
            <p:nvPr/>
          </p:nvCxnSpPr>
          <p:spPr>
            <a:xfrm>
              <a:off x="7176052" y="3429000"/>
              <a:ext cx="64935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17165784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Linear List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5541" y="1382550"/>
            <a:ext cx="1733448" cy="51966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Array</a:t>
            </a:r>
          </a:p>
          <a:p>
            <a:r>
              <a:rPr lang="en-CA" dirty="0"/>
              <a:t>size</a:t>
            </a:r>
          </a:p>
          <a:p>
            <a:r>
              <a:rPr lang="en-CA" dirty="0"/>
              <a:t>empty</a:t>
            </a:r>
          </a:p>
          <a:p>
            <a:r>
              <a:rPr lang="en-CA" dirty="0"/>
              <a:t>front</a:t>
            </a:r>
          </a:p>
          <a:p>
            <a:r>
              <a:rPr lang="en-CA" dirty="0"/>
              <a:t>back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xmlns="" val="33416564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A Vector is a Linear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5433" y="1332545"/>
            <a:ext cx="11247783" cy="4511664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00000"/>
              </a:lnSpc>
            </a:pPr>
            <a:r>
              <a:rPr lang="en-CA" sz="2400" dirty="0"/>
              <a:t>A vector stores its data in a straight line</a:t>
            </a:r>
            <a:br>
              <a:rPr lang="en-CA" sz="2400" dirty="0"/>
            </a:br>
            <a:endParaRPr lang="en-CA" sz="2400" dirty="0"/>
          </a:p>
          <a:p>
            <a:pPr>
              <a:lnSpc>
                <a:spcPct val="100000"/>
              </a:lnSpc>
            </a:pPr>
            <a:endParaRPr lang="en-CA" dirty="0"/>
          </a:p>
          <a:p>
            <a:pPr lvl="1">
              <a:lnSpc>
                <a:spcPct val="100000"/>
              </a:lnSpc>
            </a:pPr>
            <a:r>
              <a:rPr lang="en-CA" sz="2000" dirty="0"/>
              <a:t>Vector size = 9 data elements</a:t>
            </a:r>
          </a:p>
          <a:p>
            <a:pPr lvl="1">
              <a:lnSpc>
                <a:spcPct val="100000"/>
              </a:lnSpc>
            </a:pPr>
            <a:r>
              <a:rPr lang="en-CA" sz="2000" dirty="0"/>
              <a:t>Vector capacity = 9 memory allocation units</a:t>
            </a:r>
          </a:p>
          <a:p>
            <a:pPr lvl="1">
              <a:lnSpc>
                <a:spcPct val="100000"/>
              </a:lnSpc>
            </a:pPr>
            <a:r>
              <a:rPr lang="en-CA" sz="2000" dirty="0"/>
              <a:t>First index = 0</a:t>
            </a:r>
          </a:p>
          <a:p>
            <a:pPr lvl="1">
              <a:lnSpc>
                <a:spcPct val="100000"/>
              </a:lnSpc>
            </a:pPr>
            <a:r>
              <a:rPr lang="en-CA" sz="2000" dirty="0"/>
              <a:t>Last index = 8</a:t>
            </a:r>
          </a:p>
          <a:p>
            <a:pPr>
              <a:lnSpc>
                <a:spcPct val="100000"/>
              </a:lnSpc>
            </a:pPr>
            <a:r>
              <a:rPr lang="en-CA" sz="2400" dirty="0"/>
              <a:t>A vector uses contiguous memory and has random access to its elements</a:t>
            </a:r>
          </a:p>
          <a:p>
            <a:pPr lvl="1">
              <a:lnSpc>
                <a:spcPct val="100000"/>
              </a:lnSpc>
            </a:pPr>
            <a:r>
              <a:rPr lang="en-CA" dirty="0"/>
              <a:t>vector[6] = 77</a:t>
            </a:r>
          </a:p>
          <a:p>
            <a:pPr>
              <a:lnSpc>
                <a:spcPct val="100000"/>
              </a:lnSpc>
            </a:pPr>
            <a:r>
              <a:rPr lang="en-CA" sz="2400" dirty="0"/>
              <a:t>vectors are homogenous</a:t>
            </a:r>
          </a:p>
          <a:p>
            <a:pPr>
              <a:lnSpc>
                <a:spcPct val="100000"/>
              </a:lnSpc>
            </a:pPr>
            <a:r>
              <a:rPr lang="en-CA" sz="2400" dirty="0"/>
              <a:t>Operations on arrays are limited to its structure</a:t>
            </a:r>
          </a:p>
          <a:p>
            <a:pPr>
              <a:lnSpc>
                <a:spcPct val="100000"/>
              </a:lnSpc>
            </a:pPr>
            <a:r>
              <a:rPr lang="en-CA" sz="2400" dirty="0"/>
              <a:t>A vector is dynamic and can be expanded or shrunk</a:t>
            </a:r>
          </a:p>
          <a:p>
            <a:pPr lvl="1">
              <a:lnSpc>
                <a:spcPct val="100000"/>
              </a:lnSpc>
            </a:pPr>
            <a:r>
              <a:rPr lang="en-CA" sz="2000" dirty="0"/>
              <a:t>Vector size = 11 elements</a:t>
            </a:r>
          </a:p>
          <a:p>
            <a:pPr lvl="1">
              <a:lnSpc>
                <a:spcPct val="100000"/>
              </a:lnSpc>
            </a:pPr>
            <a:r>
              <a:rPr lang="en-CA" sz="2000" dirty="0"/>
              <a:t>Vector capacity = 13 memory allocation units</a:t>
            </a:r>
          </a:p>
          <a:p>
            <a:endParaRPr lang="en-CA" dirty="0"/>
          </a:p>
          <a:p>
            <a:endParaRPr lang="en-CA" dirty="0"/>
          </a:p>
          <a:p>
            <a:pPr marL="0" indent="0">
              <a:buNone/>
            </a:pPr>
            <a:endParaRPr lang="en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462361C1-8AF8-6A53-FA17-F763E079C50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39815" y="1720307"/>
            <a:ext cx="8369768" cy="57652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D8C3C9F0-302B-E70A-C34C-07A87A415EEB}"/>
              </a:ext>
            </a:extLst>
          </p:cNvPr>
          <p:cNvGrpSpPr/>
          <p:nvPr/>
        </p:nvGrpSpPr>
        <p:grpSpPr>
          <a:xfrm>
            <a:off x="755011" y="1858978"/>
            <a:ext cx="1275227" cy="299180"/>
            <a:chOff x="6368677" y="3240157"/>
            <a:chExt cx="1456731" cy="36933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xmlns="" id="{851E82BA-0390-2CB5-E1D3-DA9A1D46DA83}"/>
                </a:ext>
              </a:extLst>
            </p:cNvPr>
            <p:cNvSpPr txBox="1"/>
            <p:nvPr/>
          </p:nvSpPr>
          <p:spPr>
            <a:xfrm>
              <a:off x="6368677" y="3240157"/>
              <a:ext cx="807375" cy="369332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/>
                <a:t>vector</a:t>
              </a:r>
              <a:endParaRPr lang="en-CA" sz="1600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xmlns="" id="{A02A07EF-7DD6-AE3A-6FE5-2EBE03535520}"/>
                </a:ext>
              </a:extLst>
            </p:cNvPr>
            <p:cNvCxnSpPr/>
            <p:nvPr/>
          </p:nvCxnSpPr>
          <p:spPr>
            <a:xfrm>
              <a:off x="7176052" y="3429000"/>
              <a:ext cx="64935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AD1FFBB-236C-781D-AED8-811813D9B6A4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456119" y="5844209"/>
            <a:ext cx="9218313" cy="514169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141316FC-0507-EA3B-478B-3A7D9273E8FE}"/>
              </a:ext>
            </a:extLst>
          </p:cNvPr>
          <p:cNvGrpSpPr/>
          <p:nvPr/>
        </p:nvGrpSpPr>
        <p:grpSpPr>
          <a:xfrm>
            <a:off x="1071317" y="5925507"/>
            <a:ext cx="1384802" cy="351575"/>
            <a:chOff x="6368677" y="3240157"/>
            <a:chExt cx="1456731" cy="36933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4550E973-34AC-68D2-4DEB-F071D73F66D5}"/>
                </a:ext>
              </a:extLst>
            </p:cNvPr>
            <p:cNvSpPr txBox="1"/>
            <p:nvPr/>
          </p:nvSpPr>
          <p:spPr>
            <a:xfrm>
              <a:off x="6368677" y="3240157"/>
              <a:ext cx="807375" cy="369332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/>
                <a:t>vector</a:t>
              </a:r>
              <a:endParaRPr lang="en-CA" sz="1600" dirty="0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xmlns="" id="{CE3014CF-F8E9-22BD-F5B9-04AA62DADA28}"/>
                </a:ext>
              </a:extLst>
            </p:cNvPr>
            <p:cNvCxnSpPr/>
            <p:nvPr/>
          </p:nvCxnSpPr>
          <p:spPr>
            <a:xfrm>
              <a:off x="7176052" y="3429000"/>
              <a:ext cx="64935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26376284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Linear List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9766" y="1400644"/>
            <a:ext cx="1733448" cy="51966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Array</a:t>
            </a:r>
          </a:p>
          <a:p>
            <a:r>
              <a:rPr lang="en-CA" dirty="0"/>
              <a:t>size</a:t>
            </a:r>
          </a:p>
          <a:p>
            <a:r>
              <a:rPr lang="en-CA" dirty="0"/>
              <a:t>empty</a:t>
            </a:r>
          </a:p>
          <a:p>
            <a:r>
              <a:rPr lang="en-CA" dirty="0"/>
              <a:t>front</a:t>
            </a:r>
          </a:p>
          <a:p>
            <a:r>
              <a:rPr lang="en-CA" dirty="0"/>
              <a:t>back</a:t>
            </a:r>
          </a:p>
          <a:p>
            <a:r>
              <a:rPr lang="en-CA" dirty="0"/>
              <a:t>[ ]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C232D3DB-EC9D-A2B8-1662-5E132A82E67A}"/>
              </a:ext>
            </a:extLst>
          </p:cNvPr>
          <p:cNvSpPr txBox="1">
            <a:spLocks/>
          </p:cNvSpPr>
          <p:nvPr/>
        </p:nvSpPr>
        <p:spPr>
          <a:xfrm>
            <a:off x="3062390" y="1400643"/>
            <a:ext cx="2416865" cy="527511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CA" b="1" dirty="0"/>
              <a:t>Vector</a:t>
            </a:r>
          </a:p>
          <a:p>
            <a:r>
              <a:rPr lang="en-CA" dirty="0"/>
              <a:t>size</a:t>
            </a:r>
          </a:p>
          <a:p>
            <a:r>
              <a:rPr lang="en-CA" dirty="0"/>
              <a:t>empty</a:t>
            </a:r>
          </a:p>
          <a:p>
            <a:r>
              <a:rPr lang="en-CA" dirty="0"/>
              <a:t>front</a:t>
            </a:r>
          </a:p>
          <a:p>
            <a:r>
              <a:rPr lang="en-CA" dirty="0"/>
              <a:t>back</a:t>
            </a:r>
          </a:p>
          <a:p>
            <a:r>
              <a:rPr lang="en-CA" dirty="0"/>
              <a:t>[ ] or at </a:t>
            </a:r>
          </a:p>
          <a:p>
            <a:r>
              <a:rPr lang="en-CA" dirty="0" err="1"/>
              <a:t>push_back</a:t>
            </a:r>
            <a:endParaRPr lang="en-CA" dirty="0"/>
          </a:p>
          <a:p>
            <a:r>
              <a:rPr lang="en-CA" dirty="0" err="1"/>
              <a:t>pop_back</a:t>
            </a:r>
            <a:endParaRPr lang="en-CA" dirty="0"/>
          </a:p>
          <a:p>
            <a:r>
              <a:rPr lang="en-CA" dirty="0"/>
              <a:t>clear</a:t>
            </a:r>
          </a:p>
          <a:p>
            <a:r>
              <a:rPr lang="en-CA" dirty="0"/>
              <a:t>insert</a:t>
            </a:r>
          </a:p>
          <a:p>
            <a:r>
              <a:rPr lang="en-CA" dirty="0"/>
              <a:t>erase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CA" dirty="0"/>
          </a:p>
          <a:p>
            <a:pPr marL="0" indent="0">
              <a:buFont typeface="Arial" panose="020B0604020202020204" pitchFamily="34" charset="0"/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xmlns="" val="11529384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02BA563-3819-9053-BF67-18FA52D65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0B8C1AB-5967-48E4-533F-9213CAB3C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815" y="210820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A Stack is a Linear List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C8C6A2CE-D7E5-CB49-C0F7-297A8B213E5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l="4867" r="2352" b="11930"/>
          <a:stretch>
            <a:fillRect/>
          </a:stretch>
        </p:blipFill>
        <p:spPr>
          <a:xfrm>
            <a:off x="6281092" y="3539435"/>
            <a:ext cx="5642284" cy="301777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616B282-E1B8-B535-812A-F022D6107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624" y="1413614"/>
            <a:ext cx="6556246" cy="5233566"/>
          </a:xfrm>
        </p:spPr>
        <p:txBody>
          <a:bodyPr>
            <a:normAutofit fontScale="92500"/>
          </a:bodyPr>
          <a:lstStyle/>
          <a:p>
            <a:r>
              <a:rPr lang="en-CA" dirty="0"/>
              <a:t>A stack can be visualized by everyday objects</a:t>
            </a:r>
          </a:p>
          <a:p>
            <a:pPr lvl="1"/>
            <a:r>
              <a:rPr lang="en-CA" dirty="0"/>
              <a:t>A stack of bowls, books, or pancakes</a:t>
            </a:r>
          </a:p>
          <a:p>
            <a:pPr lvl="1"/>
            <a:r>
              <a:rPr lang="en-CA" dirty="0"/>
              <a:t>A stack of dishes in a cupboard</a:t>
            </a:r>
          </a:p>
          <a:p>
            <a:r>
              <a:rPr lang="en-CA" dirty="0"/>
              <a:t>In all cases, the important characteristic is that the item on the top is the most easily accessed</a:t>
            </a:r>
          </a:p>
          <a:p>
            <a:pPr lvl="1"/>
            <a:r>
              <a:rPr lang="en-CA" dirty="0"/>
              <a:t>The top item can be removed</a:t>
            </a:r>
          </a:p>
          <a:p>
            <a:pPr lvl="1"/>
            <a:r>
              <a:rPr lang="en-CA" dirty="0"/>
              <a:t>A new item can be added to the top </a:t>
            </a:r>
          </a:p>
          <a:p>
            <a:r>
              <a:rPr lang="en-CA" dirty="0"/>
              <a:t>Additionally:</a:t>
            </a:r>
          </a:p>
          <a:p>
            <a:pPr lvl="1"/>
            <a:r>
              <a:rPr lang="en-CA" dirty="0"/>
              <a:t>An item removed from a stack is the most-recently inserted item</a:t>
            </a:r>
          </a:p>
          <a:p>
            <a:r>
              <a:rPr lang="en-CA" dirty="0"/>
              <a:t>A stack is a structure that uses the LIFO approach (Last in, First out)</a:t>
            </a:r>
          </a:p>
          <a:p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DA03302-A107-885F-9F79-CD3ED4F05D95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710455" y="1413614"/>
            <a:ext cx="3436673" cy="19281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61ABD1DB-9FCA-AFFE-3822-D185D2EB9BB0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259456" y="1834855"/>
            <a:ext cx="1790750" cy="1332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22789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210820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Stack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648090"/>
            <a:ext cx="11073389" cy="4891857"/>
          </a:xfrm>
        </p:spPr>
        <p:txBody>
          <a:bodyPr>
            <a:normAutofit/>
          </a:bodyPr>
          <a:lstStyle/>
          <a:p>
            <a:r>
              <a:rPr lang="en-CA" dirty="0"/>
              <a:t>A stack is a structure that uses the LIFO approach (Last in, First out)</a:t>
            </a:r>
          </a:p>
          <a:p>
            <a:r>
              <a:rPr lang="en-CA" dirty="0"/>
              <a:t>The stack data type is characterized by four operations: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CA" dirty="0"/>
              <a:t>An “is empty” operation returns true if the stack contains no elements 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CA" dirty="0"/>
              <a:t>A new element can only be added “pushed” onto the “top” of the stack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CA" dirty="0"/>
              <a:t>An element can only be removed “popped” from the “top” of the stack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CA" dirty="0"/>
              <a:t>A “peek” operation gives access to the “top” without modifying the stack</a:t>
            </a:r>
          </a:p>
          <a:p>
            <a:r>
              <a:rPr lang="en-CA" dirty="0"/>
              <a:t>We can also use an “is full” operation to check if the stack is full before we push a new value</a:t>
            </a:r>
          </a:p>
          <a:p>
            <a:pPr lvl="1"/>
            <a:r>
              <a:rPr lang="en-CA" dirty="0"/>
              <a:t>If the stack is full and does not contain enough space to accept a new value to be pushed onto the stack is then considered to be in an “overflow” state</a:t>
            </a:r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xmlns="" val="27969917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Stack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867" y="1508943"/>
            <a:ext cx="4231345" cy="4554232"/>
          </a:xfrm>
        </p:spPr>
        <p:txBody>
          <a:bodyPr/>
          <a:lstStyle/>
          <a:p>
            <a:pPr marL="0" indent="0">
              <a:buNone/>
            </a:pPr>
            <a:r>
              <a:rPr lang="en-CA" dirty="0"/>
              <a:t>LIFO</a:t>
            </a:r>
          </a:p>
          <a:p>
            <a:r>
              <a:rPr lang="en-CA" dirty="0"/>
              <a:t>push() – add an element to the top of the stack </a:t>
            </a:r>
          </a:p>
          <a:p>
            <a:r>
              <a:rPr lang="en-CA" dirty="0"/>
              <a:t>pop() – remove an element from the top of the stack</a:t>
            </a:r>
          </a:p>
          <a:p>
            <a:endParaRPr lang="en-C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157566" y="1536382"/>
            <a:ext cx="7358510" cy="51393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97BD2765-382D-58B5-32AE-B9E0A1F96F8E}"/>
              </a:ext>
            </a:extLst>
          </p:cNvPr>
          <p:cNvSpPr txBox="1"/>
          <p:nvPr/>
        </p:nvSpPr>
        <p:spPr>
          <a:xfrm>
            <a:off x="8965096" y="1247333"/>
            <a:ext cx="13185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FF0000"/>
                </a:solidFill>
              </a:rPr>
              <a:t>Last In</a:t>
            </a:r>
            <a:endParaRPr lang="en-CA" sz="2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62E2824-12D1-03D7-1806-634CFDA70D5B}"/>
              </a:ext>
            </a:extLst>
          </p:cNvPr>
          <p:cNvSpPr txBox="1"/>
          <p:nvPr/>
        </p:nvSpPr>
        <p:spPr>
          <a:xfrm>
            <a:off x="2696818" y="4309639"/>
            <a:ext cx="15703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FF0000"/>
                </a:solidFill>
              </a:rPr>
              <a:t>First Out</a:t>
            </a:r>
            <a:endParaRPr lang="en-CA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256983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Linear List Operations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3957336B-F274-78C6-B00D-911BAD680AD4}"/>
              </a:ext>
            </a:extLst>
          </p:cNvPr>
          <p:cNvSpPr txBox="1">
            <a:spLocks/>
          </p:cNvSpPr>
          <p:nvPr/>
        </p:nvSpPr>
        <p:spPr>
          <a:xfrm>
            <a:off x="5622710" y="1324443"/>
            <a:ext cx="2416865" cy="51966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CA" b="1" dirty="0"/>
              <a:t>Stack </a:t>
            </a:r>
          </a:p>
          <a:p>
            <a:r>
              <a:rPr lang="en-CA" dirty="0"/>
              <a:t>size</a:t>
            </a:r>
          </a:p>
          <a:p>
            <a:r>
              <a:rPr lang="en-CA" dirty="0"/>
              <a:t>empty</a:t>
            </a:r>
          </a:p>
          <a:p>
            <a:r>
              <a:rPr lang="en-CA" dirty="0"/>
              <a:t>push</a:t>
            </a:r>
          </a:p>
          <a:p>
            <a:r>
              <a:rPr lang="en-CA" dirty="0"/>
              <a:t>pop</a:t>
            </a:r>
          </a:p>
          <a:p>
            <a:r>
              <a:rPr lang="en-CA" dirty="0"/>
              <a:t>peek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CA" dirty="0"/>
          </a:p>
          <a:p>
            <a:pPr marL="0" indent="0">
              <a:buFont typeface="Arial" panose="020B0604020202020204" pitchFamily="34" charset="0"/>
              <a:buNone/>
            </a:pPr>
            <a:endParaRPr lang="en-CA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45DAFEA3-8B5B-626B-D0BA-4D68683B7F80}"/>
              </a:ext>
            </a:extLst>
          </p:cNvPr>
          <p:cNvSpPr txBox="1">
            <a:spLocks/>
          </p:cNvSpPr>
          <p:nvPr/>
        </p:nvSpPr>
        <p:spPr>
          <a:xfrm>
            <a:off x="1109766" y="1400644"/>
            <a:ext cx="1733448" cy="51966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CA" b="1"/>
              <a:t>Array</a:t>
            </a:r>
          </a:p>
          <a:p>
            <a:r>
              <a:rPr lang="en-CA"/>
              <a:t>size</a:t>
            </a:r>
          </a:p>
          <a:p>
            <a:r>
              <a:rPr lang="en-CA"/>
              <a:t>empty</a:t>
            </a:r>
          </a:p>
          <a:p>
            <a:r>
              <a:rPr lang="en-CA"/>
              <a:t>front</a:t>
            </a:r>
          </a:p>
          <a:p>
            <a:r>
              <a:rPr lang="en-CA"/>
              <a:t>back</a:t>
            </a:r>
          </a:p>
          <a:p>
            <a:r>
              <a:rPr lang="en-CA"/>
              <a:t>[ ]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CA"/>
          </a:p>
          <a:p>
            <a:pPr marL="0" indent="0">
              <a:buFont typeface="Arial" panose="020B0604020202020204" pitchFamily="34" charset="0"/>
              <a:buNone/>
            </a:pPr>
            <a:endParaRPr lang="en-CA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xmlns="" id="{E402846D-6A4E-034C-AAD2-8E26EDD771D9}"/>
              </a:ext>
            </a:extLst>
          </p:cNvPr>
          <p:cNvSpPr txBox="1">
            <a:spLocks/>
          </p:cNvSpPr>
          <p:nvPr/>
        </p:nvSpPr>
        <p:spPr>
          <a:xfrm>
            <a:off x="3062390" y="1400643"/>
            <a:ext cx="2416865" cy="527511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CA" b="1" dirty="0"/>
              <a:t>Vector</a:t>
            </a:r>
          </a:p>
          <a:p>
            <a:r>
              <a:rPr lang="en-CA" dirty="0"/>
              <a:t>size</a:t>
            </a:r>
          </a:p>
          <a:p>
            <a:r>
              <a:rPr lang="en-CA" dirty="0"/>
              <a:t>empty</a:t>
            </a:r>
          </a:p>
          <a:p>
            <a:r>
              <a:rPr lang="en-CA" dirty="0"/>
              <a:t>front</a:t>
            </a:r>
          </a:p>
          <a:p>
            <a:r>
              <a:rPr lang="en-CA" dirty="0"/>
              <a:t>back</a:t>
            </a:r>
          </a:p>
          <a:p>
            <a:r>
              <a:rPr lang="en-CA" dirty="0"/>
              <a:t>[ ] or at </a:t>
            </a:r>
          </a:p>
          <a:p>
            <a:r>
              <a:rPr lang="en-CA" dirty="0" err="1"/>
              <a:t>push_back</a:t>
            </a:r>
            <a:endParaRPr lang="en-CA" dirty="0"/>
          </a:p>
          <a:p>
            <a:r>
              <a:rPr lang="en-CA" dirty="0" err="1"/>
              <a:t>pop_back</a:t>
            </a:r>
            <a:endParaRPr lang="en-CA" dirty="0"/>
          </a:p>
          <a:p>
            <a:r>
              <a:rPr lang="en-CA" dirty="0"/>
              <a:t>clear</a:t>
            </a:r>
          </a:p>
          <a:p>
            <a:r>
              <a:rPr lang="en-CA" dirty="0"/>
              <a:t>insert</a:t>
            </a:r>
          </a:p>
          <a:p>
            <a:r>
              <a:rPr lang="en-CA" dirty="0"/>
              <a:t>erase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CA" dirty="0"/>
          </a:p>
          <a:p>
            <a:pPr marL="0" indent="0">
              <a:buFont typeface="Arial" panose="020B0604020202020204" pitchFamily="34" charset="0"/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xmlns="" val="2858231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Uses of Stacks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092" y="1450182"/>
            <a:ext cx="10989733" cy="4922043"/>
          </a:xfrm>
        </p:spPr>
        <p:txBody>
          <a:bodyPr>
            <a:normAutofit lnSpcReduction="10000"/>
          </a:bodyPr>
          <a:lstStyle/>
          <a:p>
            <a:r>
              <a:rPr lang="en-CA" dirty="0"/>
              <a:t>Stacks have several different applications in software development and useful for any kind of problem involving LIFO data</a:t>
            </a:r>
          </a:p>
          <a:p>
            <a:r>
              <a:rPr lang="en-CA" dirty="0"/>
              <a:t>For example:</a:t>
            </a:r>
          </a:p>
          <a:p>
            <a:pPr lvl="1"/>
            <a:r>
              <a:rPr lang="en-CA" dirty="0"/>
              <a:t>An "undo" mechanism in an application, where the last operation is “undone”, all changes are kept in a stack</a:t>
            </a:r>
          </a:p>
          <a:p>
            <a:pPr lvl="1"/>
            <a:r>
              <a:rPr lang="en-CA" dirty="0"/>
              <a:t>A compiler's syntax check for matching braces is implemented by using stack</a:t>
            </a:r>
          </a:p>
          <a:p>
            <a:pPr lvl="1"/>
            <a:r>
              <a:rPr lang="en-GB" dirty="0"/>
              <a:t>Call stack used by runtime system when methods are invoked</a:t>
            </a:r>
            <a:endParaRPr lang="en-CA" dirty="0"/>
          </a:p>
          <a:p>
            <a:pPr lvl="1"/>
            <a:r>
              <a:rPr lang="en-CA" dirty="0"/>
              <a:t>The input stream data structure, both from keyboard and from file </a:t>
            </a:r>
          </a:p>
          <a:p>
            <a:pPr lvl="1"/>
            <a:r>
              <a:rPr lang="en-CA" dirty="0"/>
              <a:t>Back/Forward stacks on browsers</a:t>
            </a:r>
          </a:p>
          <a:p>
            <a:pPr lvl="1"/>
            <a:r>
              <a:rPr lang="en-CA" dirty="0"/>
              <a:t>Game development – “Backtracking” for example</a:t>
            </a:r>
          </a:p>
          <a:p>
            <a:pPr lvl="2"/>
            <a:r>
              <a:rPr lang="en-CA" sz="2200" dirty="0"/>
              <a:t>Find your way through a maze. </a:t>
            </a:r>
          </a:p>
          <a:p>
            <a:pPr lvl="2"/>
            <a:r>
              <a:rPr lang="en-CA" sz="2200" dirty="0"/>
              <a:t>Find a path from one point in a graph (roadmap) to another point. </a:t>
            </a:r>
          </a:p>
          <a:p>
            <a:pPr lvl="2"/>
            <a:r>
              <a:rPr lang="en-CA" sz="2200" dirty="0"/>
              <a:t>Play a game in which there are moves to be made (checkers, chess)</a:t>
            </a:r>
          </a:p>
        </p:txBody>
      </p:sp>
    </p:spTree>
    <p:extLst>
      <p:ext uri="{BB962C8B-B14F-4D97-AF65-F5344CB8AC3E}">
        <p14:creationId xmlns:p14="http://schemas.microsoft.com/office/powerpoint/2010/main" xmlns="" val="41160269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Stack as an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Using an array to implement a stack gives us a bounded array.</a:t>
            </a:r>
          </a:p>
          <a:p>
            <a:r>
              <a:rPr lang="en-CA" dirty="0"/>
              <a:t>An array uses a defined size created in contiguous memory</a:t>
            </a:r>
          </a:p>
          <a:p>
            <a:r>
              <a:rPr lang="en-CA" dirty="0"/>
              <a:t>We are constrained to the size (number of elements) of the array definition.</a:t>
            </a:r>
          </a:p>
          <a:p>
            <a:r>
              <a:rPr lang="en-CA" dirty="0"/>
              <a:t>If we wish to have a different sized stack, we need to create another array that is larger (or smaller) and copy the contents over to the new array.</a:t>
            </a:r>
          </a:p>
          <a:p>
            <a:r>
              <a:rPr lang="en-CA" dirty="0"/>
              <a:t>We can use dynamic arrays to provide this functionality</a:t>
            </a:r>
          </a:p>
        </p:txBody>
      </p:sp>
    </p:spTree>
    <p:extLst>
      <p:ext uri="{BB962C8B-B14F-4D97-AF65-F5344CB8AC3E}">
        <p14:creationId xmlns:p14="http://schemas.microsoft.com/office/powerpoint/2010/main" xmlns="" val="35624637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D5997A0-1A0D-0769-D044-852388C5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166" y="1459706"/>
            <a:ext cx="11540221" cy="2852737"/>
          </a:xfrm>
        </p:spPr>
        <p:txBody>
          <a:bodyPr/>
          <a:lstStyle/>
          <a:p>
            <a:r>
              <a:rPr lang="en-GB" i="1" dirty="0"/>
              <a:t>See demo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Stack </a:t>
            </a:r>
            <a:r>
              <a:rPr lang="en-GB" dirty="0" smtClean="0"/>
              <a:t>ADT with </a:t>
            </a:r>
            <a:r>
              <a:rPr lang="en-GB" dirty="0"/>
              <a:t>array implementation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xmlns="" val="13507520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10BFB55-8CAD-DB55-9E0F-F949F2F66E3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l="26509" t="-2811" r="17909" b="56733"/>
          <a:stretch>
            <a:fillRect/>
          </a:stretch>
        </p:blipFill>
        <p:spPr>
          <a:xfrm>
            <a:off x="8070285" y="4385496"/>
            <a:ext cx="3861556" cy="15763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E5CADF2-E658-6BAF-D849-069529C8F273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945531" y="1358817"/>
            <a:ext cx="3805191" cy="25854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003" y="182245"/>
            <a:ext cx="9879719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Linked List – an alternative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448" y="1358817"/>
            <a:ext cx="7373084" cy="5044257"/>
          </a:xfrm>
        </p:spPr>
        <p:txBody>
          <a:bodyPr>
            <a:normAutofit fontScale="92500" lnSpcReduction="20000"/>
          </a:bodyPr>
          <a:lstStyle/>
          <a:p>
            <a:r>
              <a:rPr lang="en-CA" dirty="0"/>
              <a:t>Arrays are not the only way to implement lists</a:t>
            </a:r>
          </a:p>
          <a:p>
            <a:pPr marL="0" indent="0">
              <a:buNone/>
            </a:pPr>
            <a:r>
              <a:rPr lang="en-CA" sz="3600" dirty="0">
                <a:solidFill>
                  <a:schemeClr val="accent5">
                    <a:lumMod val="75000"/>
                  </a:schemeClr>
                </a:solidFill>
              </a:rPr>
              <a:t>Linked List</a:t>
            </a:r>
          </a:p>
          <a:p>
            <a:r>
              <a:rPr lang="en-CA" dirty="0"/>
              <a:t>A linked list maintains elements in a chain but not in contiguous memory</a:t>
            </a:r>
          </a:p>
          <a:p>
            <a:r>
              <a:rPr lang="en-CA" dirty="0"/>
              <a:t>Each element is a “Node” containing a data value and a pointer</a:t>
            </a:r>
          </a:p>
          <a:p>
            <a:r>
              <a:rPr lang="en-CA" dirty="0"/>
              <a:t>The pointer contains the address of the next link in the chain </a:t>
            </a:r>
          </a:p>
          <a:p>
            <a:r>
              <a:rPr lang="en-CA" dirty="0"/>
              <a:t>A linked list is a collection of “nodes” that together form a linear ordering. </a:t>
            </a:r>
          </a:p>
          <a:p>
            <a:r>
              <a:rPr lang="en-CA" dirty="0"/>
              <a:t>The first node of a linked list is called the head of the list</a:t>
            </a:r>
          </a:p>
          <a:p>
            <a:r>
              <a:rPr lang="en-CA" dirty="0"/>
              <a:t>The last node in a singly linked list points to nothing</a:t>
            </a:r>
          </a:p>
        </p:txBody>
      </p:sp>
    </p:spTree>
    <p:extLst>
      <p:ext uri="{BB962C8B-B14F-4D97-AF65-F5344CB8AC3E}">
        <p14:creationId xmlns:p14="http://schemas.microsoft.com/office/powerpoint/2010/main" xmlns="" val="26978239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>
                <a:solidFill>
                  <a:schemeClr val="bg1"/>
                </a:solidFill>
              </a:rPr>
              <a:t>A Singly </a:t>
            </a:r>
            <a:r>
              <a:rPr lang="en-CA" dirty="0">
                <a:solidFill>
                  <a:schemeClr val="bg1"/>
                </a:solidFill>
              </a:rPr>
              <a:t>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717" y="1317874"/>
            <a:ext cx="11117238" cy="2585385"/>
          </a:xfrm>
        </p:spPr>
        <p:txBody>
          <a:bodyPr>
            <a:normAutofit/>
          </a:bodyPr>
          <a:lstStyle/>
          <a:p>
            <a:r>
              <a:rPr lang="en-CA" dirty="0"/>
              <a:t>A singly linked list can be traversed in one direction, from head to tail</a:t>
            </a:r>
          </a:p>
          <a:p>
            <a:r>
              <a:rPr lang="en-CA" dirty="0"/>
              <a:t>Each “node” contains data which can be a primitive type or a derived type</a:t>
            </a:r>
          </a:p>
          <a:p>
            <a:r>
              <a:rPr lang="en-CA" dirty="0"/>
              <a:t>Each node contains a pointer to the next node. If there is no next node the pointer is set to null</a:t>
            </a:r>
          </a:p>
          <a:p>
            <a:r>
              <a:rPr lang="en-CA" dirty="0"/>
              <a:t>A node will be represented by a C++ class or struct.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743200" y="3870643"/>
            <a:ext cx="5696802" cy="280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740596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0B92709-997D-BA86-ABF6-49B2A32B995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l="3396" b="18617"/>
          <a:stretch>
            <a:fillRect/>
          </a:stretch>
        </p:blipFill>
        <p:spPr>
          <a:xfrm>
            <a:off x="5629834" y="1954130"/>
            <a:ext cx="6390741" cy="269524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Linked List – adding a node to the end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4D6CCFC6-343A-2112-FB87-DAE7B9D249BC}"/>
              </a:ext>
            </a:extLst>
          </p:cNvPr>
          <p:cNvSpPr txBox="1"/>
          <p:nvPr/>
        </p:nvSpPr>
        <p:spPr>
          <a:xfrm>
            <a:off x="326171" y="1320443"/>
            <a:ext cx="5237601" cy="535531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dirty="0"/>
              <a:t>void </a:t>
            </a:r>
            <a:r>
              <a:rPr lang="en-CA" dirty="0" err="1"/>
              <a:t>addToEnd</a:t>
            </a:r>
            <a:r>
              <a:rPr lang="en-CA" dirty="0"/>
              <a:t>(int value)</a:t>
            </a:r>
          </a:p>
          <a:p>
            <a:r>
              <a:rPr lang="en-CA" dirty="0"/>
              <a:t>{</a:t>
            </a:r>
          </a:p>
          <a:p>
            <a:r>
              <a:rPr lang="en-CA" dirty="0"/>
              <a:t>	</a:t>
            </a:r>
            <a:r>
              <a:rPr lang="en-CA" dirty="0">
                <a:solidFill>
                  <a:srgbClr val="00B050"/>
                </a:solidFill>
              </a:rPr>
              <a:t>//1. create a new Node (value, </a:t>
            </a:r>
            <a:r>
              <a:rPr lang="en-CA" dirty="0" err="1">
                <a:solidFill>
                  <a:srgbClr val="00B050"/>
                </a:solidFill>
              </a:rPr>
              <a:t>nullptr</a:t>
            </a:r>
            <a:r>
              <a:rPr lang="en-CA" dirty="0">
                <a:solidFill>
                  <a:srgbClr val="00B050"/>
                </a:solidFill>
              </a:rPr>
              <a:t>)</a:t>
            </a:r>
          </a:p>
          <a:p>
            <a:r>
              <a:rPr lang="en-CA" dirty="0"/>
              <a:t>	Node* </a:t>
            </a:r>
            <a:r>
              <a:rPr lang="en-CA" dirty="0" err="1"/>
              <a:t>newNode</a:t>
            </a:r>
            <a:r>
              <a:rPr lang="en-CA" dirty="0"/>
              <a:t> = new Node(value);</a:t>
            </a:r>
          </a:p>
          <a:p>
            <a:r>
              <a:rPr lang="en-CA" dirty="0"/>
              <a:t>	</a:t>
            </a:r>
          </a:p>
          <a:p>
            <a:r>
              <a:rPr lang="en-CA" dirty="0"/>
              <a:t>	</a:t>
            </a:r>
            <a:r>
              <a:rPr lang="en-CA" dirty="0">
                <a:solidFill>
                  <a:srgbClr val="00B050"/>
                </a:solidFill>
              </a:rPr>
              <a:t>//2.if list is empty, add new Node at head</a:t>
            </a:r>
          </a:p>
          <a:p>
            <a:r>
              <a:rPr lang="en-CA" dirty="0"/>
              <a:t>	if (head == </a:t>
            </a:r>
            <a:r>
              <a:rPr lang="en-CA" dirty="0" err="1"/>
              <a:t>nullptr</a:t>
            </a:r>
            <a:r>
              <a:rPr lang="en-CA" dirty="0"/>
              <a:t>)</a:t>
            </a:r>
          </a:p>
          <a:p>
            <a:r>
              <a:rPr lang="en-CA" dirty="0"/>
              <a:t>	{</a:t>
            </a:r>
          </a:p>
          <a:p>
            <a:r>
              <a:rPr lang="en-CA" dirty="0"/>
              <a:t>		head = </a:t>
            </a:r>
            <a:r>
              <a:rPr lang="en-CA" dirty="0" err="1"/>
              <a:t>newNode</a:t>
            </a:r>
            <a:r>
              <a:rPr lang="en-CA" dirty="0"/>
              <a:t>;</a:t>
            </a:r>
          </a:p>
          <a:p>
            <a:r>
              <a:rPr lang="en-CA" dirty="0"/>
              <a:t>		return;</a:t>
            </a:r>
          </a:p>
          <a:p>
            <a:r>
              <a:rPr lang="en-CA" dirty="0"/>
              <a:t>	}</a:t>
            </a:r>
          </a:p>
          <a:p>
            <a:endParaRPr lang="en-CA" dirty="0"/>
          </a:p>
          <a:p>
            <a:r>
              <a:rPr lang="en-CA" dirty="0"/>
              <a:t>	</a:t>
            </a:r>
            <a:r>
              <a:rPr lang="en-CA" dirty="0">
                <a:solidFill>
                  <a:srgbClr val="00B050"/>
                </a:solidFill>
              </a:rPr>
              <a:t>//3. if list not empty, add new Node at end</a:t>
            </a:r>
            <a:r>
              <a:rPr lang="en-CA" dirty="0"/>
              <a:t>	Node* current = head;		</a:t>
            </a:r>
          </a:p>
          <a:p>
            <a:r>
              <a:rPr lang="en-CA" dirty="0"/>
              <a:t>	while (current-&gt;next != </a:t>
            </a:r>
            <a:r>
              <a:rPr lang="en-CA" dirty="0" err="1"/>
              <a:t>nullptr</a:t>
            </a:r>
            <a:r>
              <a:rPr lang="en-CA" dirty="0"/>
              <a:t>)	</a:t>
            </a:r>
          </a:p>
          <a:p>
            <a:r>
              <a:rPr lang="en-CA" dirty="0"/>
              <a:t>		current = current-&gt;next;</a:t>
            </a:r>
          </a:p>
          <a:p>
            <a:endParaRPr lang="en-CA" dirty="0"/>
          </a:p>
          <a:p>
            <a:r>
              <a:rPr lang="en-CA" dirty="0"/>
              <a:t>	current-&gt;next = </a:t>
            </a:r>
            <a:r>
              <a:rPr lang="en-CA" dirty="0" err="1"/>
              <a:t>newNode</a:t>
            </a:r>
            <a:r>
              <a:rPr lang="en-CA" dirty="0"/>
              <a:t>;</a:t>
            </a:r>
          </a:p>
          <a:p>
            <a:r>
              <a:rPr lang="en-CA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xmlns="" val="33345640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BEB048A-1641-FA55-4212-6A9C33685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1B08C1-7628-8A54-E35D-A16F4A310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Linked List – adding a node to the front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878FE2A8-7D39-49C9-CCC1-D5394B0C552A}"/>
              </a:ext>
            </a:extLst>
          </p:cNvPr>
          <p:cNvSpPr txBox="1"/>
          <p:nvPr/>
        </p:nvSpPr>
        <p:spPr>
          <a:xfrm>
            <a:off x="517001" y="1551030"/>
            <a:ext cx="4953496" cy="17543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dirty="0"/>
              <a:t>void </a:t>
            </a:r>
            <a:r>
              <a:rPr lang="en-CA" dirty="0" err="1"/>
              <a:t>addToFront</a:t>
            </a:r>
            <a:r>
              <a:rPr lang="en-CA" dirty="0"/>
              <a:t>(int value)</a:t>
            </a:r>
          </a:p>
          <a:p>
            <a:r>
              <a:rPr lang="en-CA" dirty="0"/>
              <a:t>{</a:t>
            </a:r>
          </a:p>
          <a:p>
            <a:r>
              <a:rPr lang="en-CA" dirty="0"/>
              <a:t>	Node* </a:t>
            </a:r>
            <a:r>
              <a:rPr lang="en-CA" dirty="0" err="1"/>
              <a:t>newNode</a:t>
            </a:r>
            <a:r>
              <a:rPr lang="en-CA" dirty="0"/>
              <a:t> = new Node(value);</a:t>
            </a:r>
          </a:p>
          <a:p>
            <a:r>
              <a:rPr lang="en-CA" dirty="0"/>
              <a:t>	</a:t>
            </a:r>
            <a:r>
              <a:rPr lang="en-CA" dirty="0" err="1"/>
              <a:t>newNode</a:t>
            </a:r>
            <a:r>
              <a:rPr lang="en-CA" dirty="0"/>
              <a:t>-&gt;next = head;</a:t>
            </a:r>
          </a:p>
          <a:p>
            <a:r>
              <a:rPr lang="en-CA" dirty="0"/>
              <a:t>	head = </a:t>
            </a:r>
            <a:r>
              <a:rPr lang="en-CA" dirty="0" err="1"/>
              <a:t>newNode</a:t>
            </a:r>
            <a:r>
              <a:rPr lang="en-CA" dirty="0"/>
              <a:t>;</a:t>
            </a:r>
          </a:p>
          <a:p>
            <a:r>
              <a:rPr lang="en-CA" dirty="0"/>
              <a:t>}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9CFB6692-7295-B671-6E84-54EFA71D3BD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b="20074"/>
          <a:stretch>
            <a:fillRect/>
          </a:stretch>
        </p:blipFill>
        <p:spPr>
          <a:xfrm>
            <a:off x="5629524" y="1411368"/>
            <a:ext cx="6468322" cy="2588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904035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9091EAC-B434-A5B0-F33A-E6034E141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827A1466-2918-C665-D391-B50C6F1104C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27546" y="2134124"/>
            <a:ext cx="6731795" cy="24179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089B708F-550E-EE34-D3A8-678D8A31F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Linked List – adding a node to the middle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F61D4FD8-30EF-1CA8-D992-EC48D4E9373A}"/>
              </a:ext>
            </a:extLst>
          </p:cNvPr>
          <p:cNvSpPr txBox="1"/>
          <p:nvPr/>
        </p:nvSpPr>
        <p:spPr>
          <a:xfrm>
            <a:off x="404357" y="1557656"/>
            <a:ext cx="5184084" cy="313932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/>
              <a:t>void addToMiddle(int location, int value)</a:t>
            </a:r>
          </a:p>
          <a:p>
            <a:r>
              <a:rPr lang="en-CA"/>
              <a:t>{</a:t>
            </a:r>
          </a:p>
          <a:p>
            <a:r>
              <a:rPr lang="en-CA"/>
              <a:t>	Node* newNode = new Node(value);</a:t>
            </a:r>
          </a:p>
          <a:p>
            <a:endParaRPr lang="en-CA"/>
          </a:p>
          <a:p>
            <a:r>
              <a:rPr lang="en-CA"/>
              <a:t>	Node* current = head;</a:t>
            </a:r>
          </a:p>
          <a:p>
            <a:r>
              <a:rPr lang="en-CA"/>
              <a:t>	for (int i = 0; i &lt; location; ++i)</a:t>
            </a:r>
          </a:p>
          <a:p>
            <a:r>
              <a:rPr lang="en-CA"/>
              <a:t>		current = current-&gt;next;</a:t>
            </a:r>
          </a:p>
          <a:p>
            <a:endParaRPr lang="en-CA"/>
          </a:p>
          <a:p>
            <a:r>
              <a:rPr lang="en-CA"/>
              <a:t>	newNode-&gt;next = current-&gt;next;</a:t>
            </a:r>
          </a:p>
          <a:p>
            <a:r>
              <a:rPr lang="en-CA"/>
              <a:t>	current-&gt;next = newNode;</a:t>
            </a:r>
          </a:p>
          <a:p>
            <a:r>
              <a:rPr lang="en-CA"/>
              <a:t>}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xmlns="" val="1871001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How do we find the previous node?</a:t>
            </a:r>
            <a:endParaRPr lang="en-CA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Exercise</a:t>
            </a:r>
          </a:p>
          <a:p>
            <a:r>
              <a:rPr lang="en-CA" dirty="0"/>
              <a:t>We have a </a:t>
            </a:r>
            <a:r>
              <a:rPr lang="en-CA" dirty="0">
                <a:solidFill>
                  <a:srgbClr val="FF0000"/>
                </a:solidFill>
              </a:rPr>
              <a:t>singly linked list </a:t>
            </a:r>
            <a:r>
              <a:rPr lang="en-CA" dirty="0"/>
              <a:t>and we want to delete from somewhere in the middle</a:t>
            </a:r>
          </a:p>
          <a:p>
            <a:r>
              <a:rPr lang="en-CA" dirty="0"/>
              <a:t>We have a pointer to the one we wish to delete</a:t>
            </a:r>
          </a:p>
          <a:p>
            <a:r>
              <a:rPr lang="en-CA" dirty="0"/>
              <a:t>We need to find the previous node.</a:t>
            </a:r>
          </a:p>
          <a:p>
            <a:r>
              <a:rPr lang="en-CA" dirty="0">
                <a:solidFill>
                  <a:srgbClr val="00B050"/>
                </a:solidFill>
              </a:rPr>
              <a:t>Write the pseudo code</a:t>
            </a:r>
          </a:p>
          <a:p>
            <a:endParaRPr lang="en-C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31785" y="4533615"/>
            <a:ext cx="8799821" cy="185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674286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Let’s Define a Singly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Let’s write the pseudo code together first.</a:t>
            </a:r>
          </a:p>
          <a:p>
            <a:r>
              <a:rPr lang="en-CA" dirty="0"/>
              <a:t>Describe the structure</a:t>
            </a:r>
          </a:p>
          <a:p>
            <a:pPr lvl="1"/>
            <a:r>
              <a:rPr lang="en-CA" dirty="0"/>
              <a:t>The linked list class</a:t>
            </a:r>
          </a:p>
          <a:p>
            <a:pPr lvl="1"/>
            <a:r>
              <a:rPr lang="en-CA" dirty="0"/>
              <a:t>The node</a:t>
            </a:r>
          </a:p>
          <a:p>
            <a:r>
              <a:rPr lang="en-CA" dirty="0"/>
              <a:t>Describe the operations</a:t>
            </a:r>
          </a:p>
          <a:p>
            <a:pPr lvl="1"/>
            <a:r>
              <a:rPr lang="en-CA" dirty="0"/>
              <a:t>Add node</a:t>
            </a:r>
          </a:p>
          <a:p>
            <a:pPr lvl="1"/>
            <a:r>
              <a:rPr lang="en-CA" dirty="0"/>
              <a:t>Delete node from end</a:t>
            </a:r>
          </a:p>
          <a:p>
            <a:pPr lvl="1"/>
            <a:r>
              <a:rPr lang="en-CA" dirty="0"/>
              <a:t>Delete node from middle</a:t>
            </a:r>
          </a:p>
          <a:p>
            <a:pPr lvl="1"/>
            <a:r>
              <a:rPr lang="en-CA" dirty="0"/>
              <a:t>Traverse the list</a:t>
            </a:r>
          </a:p>
          <a:p>
            <a:r>
              <a:rPr lang="en-CA" dirty="0"/>
              <a:t>There are other operations, but we will leave those for now</a:t>
            </a:r>
          </a:p>
        </p:txBody>
      </p:sp>
    </p:spTree>
    <p:extLst>
      <p:ext uri="{BB962C8B-B14F-4D97-AF65-F5344CB8AC3E}">
        <p14:creationId xmlns:p14="http://schemas.microsoft.com/office/powerpoint/2010/main" xmlns="" val="5448114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4DA3617-6F9E-A018-A4C3-E9833D2B9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AA2FD65-AD81-B690-464A-A0A60E02C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050" y="1459706"/>
            <a:ext cx="11772338" cy="2852737"/>
          </a:xfrm>
        </p:spPr>
        <p:txBody>
          <a:bodyPr/>
          <a:lstStyle/>
          <a:p>
            <a:r>
              <a:rPr lang="en-GB" i="1" dirty="0"/>
              <a:t>See demo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Linked List with Node implementation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xmlns="" val="3656250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anshawe_F202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Fanshawe_F2020" id="{3E729443-EF42-41F3-A241-659D98D35E2E}" vid="{AB8BE6BD-5223-4ADB-A124-8EBB7E608F22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9130</TotalTime>
  <Words>1939</Words>
  <Application>Microsoft Office PowerPoint</Application>
  <PresentationFormat>Custom</PresentationFormat>
  <Paragraphs>375</Paragraphs>
  <Slides>41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43" baseType="lpstr">
      <vt:lpstr>Office Theme</vt:lpstr>
      <vt:lpstr>Fanshawe_F2020</vt:lpstr>
      <vt:lpstr>Data Structures and Algorithms INFO-3135</vt:lpstr>
      <vt:lpstr>Dynamic array allocation</vt:lpstr>
      <vt:lpstr>Dynamic array allocation</vt:lpstr>
      <vt:lpstr>Dynamic array allocation</vt:lpstr>
      <vt:lpstr>Dynamic array allocation</vt:lpstr>
      <vt:lpstr>Recall: C++ Standard Template Library</vt:lpstr>
      <vt:lpstr>C++ Standard Library</vt:lpstr>
      <vt:lpstr>The C++ Standard Library</vt:lpstr>
      <vt:lpstr>What is the Standard Template Library?</vt:lpstr>
      <vt:lpstr>Four Components of the STL</vt:lpstr>
      <vt:lpstr>Containers</vt:lpstr>
      <vt:lpstr>Types of Containers</vt:lpstr>
      <vt:lpstr>An STL Container - Vector</vt:lpstr>
      <vt:lpstr>Introducing: Containers or Collections</vt:lpstr>
      <vt:lpstr>Containers or Collections</vt:lpstr>
      <vt:lpstr>Two Categories of Collections</vt:lpstr>
      <vt:lpstr>STL Containers</vt:lpstr>
      <vt:lpstr>Abstract Data Type</vt:lpstr>
      <vt:lpstr>Why separate interface and implementation?</vt:lpstr>
      <vt:lpstr>Implementing our own Collections</vt:lpstr>
      <vt:lpstr>Collections have their own Operations</vt:lpstr>
      <vt:lpstr>Linear Lists</vt:lpstr>
      <vt:lpstr>An Array is a Linear List</vt:lpstr>
      <vt:lpstr>Linear List Operations</vt:lpstr>
      <vt:lpstr>A Vector is a Linear List</vt:lpstr>
      <vt:lpstr>Linear List Operations</vt:lpstr>
      <vt:lpstr>A Stack is a Linear List</vt:lpstr>
      <vt:lpstr>Stack Operations</vt:lpstr>
      <vt:lpstr>Stack Operations</vt:lpstr>
      <vt:lpstr>Linear List Operations</vt:lpstr>
      <vt:lpstr>Uses of Stacks</vt:lpstr>
      <vt:lpstr>Stack as an Array</vt:lpstr>
      <vt:lpstr>See demo: Stack ADT with array implementation</vt:lpstr>
      <vt:lpstr>Linked List – an alternative implementation</vt:lpstr>
      <vt:lpstr>A Singly Linked List</vt:lpstr>
      <vt:lpstr>Linked List – adding a node to the end</vt:lpstr>
      <vt:lpstr>Linked List – adding a node to the front</vt:lpstr>
      <vt:lpstr>Linked List – adding a node to the middle</vt:lpstr>
      <vt:lpstr>How do we find the previous node?</vt:lpstr>
      <vt:lpstr>Let’s Define a Singly Linked List</vt:lpstr>
      <vt:lpstr>See demo: Linked List with Node implementation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Sharrie Wing</dc:creator>
  <cp:lastModifiedBy>mfeeney</cp:lastModifiedBy>
  <cp:revision>212</cp:revision>
  <dcterms:created xsi:type="dcterms:W3CDTF">2018-09-03T16:13:27Z</dcterms:created>
  <dcterms:modified xsi:type="dcterms:W3CDTF">2026-09-16T18:33:08Z</dcterms:modified>
</cp:coreProperties>
</file>